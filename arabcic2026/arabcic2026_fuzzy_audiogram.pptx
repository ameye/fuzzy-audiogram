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Hearing loss classification has barely changed since Goodman in 1965. This talk presents a fuzzy logic framework that preserves the diagnostic gradation that crisp WHO thresholds discard, validated on three NHANES adult cycles (20–69 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patients separated by a single decibel are categorically different under WHO rules, even though a decibel sits inside audiometry's own test-retest error. Nearly four in ten ears in NHANES sit within 5 dB of a boundary. And the PTA throws away frequency-specific detail and configuration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Fuzzy set theory, introduced by Zadeh, lets a threshold belong to several severity categories at once. The result is a continuous Fuzzy Audiometric Index, a configuration vector, and an asymmetry index — all produced by an interpretable rule base rather than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combined three NHANES cycles that tested adults 20-69 y (10,889 participants; 19,568 clean ears). An 80/20 stratified split keeps every WHO category in both partitions, and everything is optimised on training and reported on the held-out test set. Comparators are the WHO PTA-4 rules, XGBoost and Random Forest.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frequency band has six overlapping trapezoidal membership functions. The optimised parameters sit a few dB to the right of the classic WHO cutoffs, with exactly 2 dB of overlap, so a 26 dB threshold is simultaneously 16% normal and 40% mild.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Forty-eight expert-derived rules in four groups: severity, configuration, asymmetry and mixed-loss patterns. Inference uses Mamdani min-max composition with centroid-of-area defuzzification to produce the continuous FAI.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combined 20-69 y test set the FAI shows substantial agreement with the WHO PTA-4 reference (kappa 0.76, Spearman 0.61) and matches the crisp grade on 95.2% of clear cases. 18.8% of test ears sit within 5 dB of a severity boundary; there the system returns graded membership (74.9% agreement with the crisp label) rather than forcing a binary choice. Spearman is attenuated by range restriction (88.6% normal). The ML comparators regress PTA-4 itself and are reference-in-disguise, not independent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clinical core. At the normal-mild boundary the fuzzy system reports graded membership instead of a forced binary label; it matches the crisp label in clear cases (95.2%) while deliberately deviating from it in the borderline zone (agreement 59–70% within ±1–3 dB).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cases illustrate the clinical value. A borderline patient gets graded membership rather than a forced label. A noise notch is caught despite a normal PTA. Presbycusis keeps its frequency gradient. And asymmetric loss has its impact quantified and folded into the severity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Configuration typing is an exploratory output: the combined adult cohort is predominantly flat and gently sloping, and the fuzzy shape rules emit a six-category membership vector. Asymmetry affects 5.1% of the cohort at the 15 dB threshold, and the fuzzy index quantifies it continuously.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120-participant longitudinal sub-cohort the FAI moves continuously, about 1.7 points per year in age-related loss, while PTA grades step once every 4.2 years. 28% of participants showed a change of 5 or more FAI points without crossing any PTA boundary — sub-threshold shifts that include both ototoxicity and recovery after acute noise exposure.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framework has practical routes into care: more honest triage, gain programming for hearing aids, earlier ototoxicity detection, noise surveillance, low-resource mobile screening, and a continuous endpoint for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limitations: air-conduction only, no Delphi consensus yet, NHANES's mild-to-moderate skew, no extended high frequencies, and outcome validation still pending. Next: multi-site validation, mobile integration, a web calculator, ANFIS, and using the FAI as a feature in outcome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messages: the FAI preserves gradation, it deliberately reclassifies borderline cases where crisp labels force a binary choice, and it stays interpretable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Happy to take questions on the rule base, the validation, or deployment plans for cochlear implant and hearing aid pathways.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776722"/>
            <a:ext cx="91440" cy="88011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13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9443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59755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0067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80379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0691" y="6176772"/>
            <a:ext cx="91440" cy="4800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1003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11315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1627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31939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225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777240"/>
            <a:ext cx="10725912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400" b="1" i="0">
                <a:solidFill>
                  <a:srgbClr val="E8B54A"/>
                </a:solidFill>
                <a:latin typeface="Calibri"/>
              </a:rPr>
              <a:t>4TH ARAB COCHLEAR IMPLANT CONFERENCE  ·  ARABCIC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1170432"/>
            <a:ext cx="1072591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0" i="0">
                <a:solidFill>
                  <a:srgbClr val="BFD0E0"/>
                </a:solidFill>
                <a:latin typeface="Calibri"/>
              </a:rPr>
              <a:t>Jeddah, Kingdom of Saudi Arabia  ·  26–28 November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1874519"/>
            <a:ext cx="10725912" cy="160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Georgia"/>
              </a:rPr>
              <a:t>A Fuzzy Logic Framework for Sensorineural Hearing Loss Classification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310128"/>
            <a:ext cx="107259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700" b="0" i="1">
                <a:solidFill>
                  <a:srgbClr val="E8B54A"/>
                </a:solidFill>
                <a:latin typeface="Calibri"/>
              </a:rPr>
              <a:t>Preserving diagnostic gradation lost to crisp WHO thresholds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60520"/>
            <a:ext cx="10725912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Dr. Sanyaolu Ameye (MBBS, FWACS, FMCORL, Pg Cert ML/AI, MSc Data Science)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BFD0E0"/>
                </a:solidFill>
                <a:latin typeface="Calibri"/>
              </a:rPr>
              <a:t>ENT Surgeon and Data Scientist</a:t>
            </a:r>
          </a:p>
          <a:p>
            <a:pPr algn="ctr"/>
            <a:r>
              <a:rPr sz="1300" b="0" i="0">
                <a:solidFill>
                  <a:srgbClr val="BFD0E0"/>
                </a:solidFill>
                <a:latin typeface="Calibri"/>
              </a:rPr>
              <a:t>King Fahad Specialist Hospital, Tabuk, Kingdom of Saudi Arabia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11680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10,889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adults 20–69 y · 3 NHANES cycles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10328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488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audiology-derived fuzzy rules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5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46136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0–100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6136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continuous FAI scale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problem: crisp thresholds on continuous biology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5486400" cy="5074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Georgia"/>
              </a:rPr>
              <a:t>One decibel changes the label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E4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21488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PATIENT A</a:t>
            </a: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2A3A"/>
                </a:solidFill>
                <a:latin typeface="Calibri"/>
              </a:rPr>
              <a:t>PTA-4 = 25 dB HL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1B2A3A"/>
                </a:solidFill>
                <a:latin typeface="Calibri"/>
              </a:rPr>
              <a:t>Label: Normal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8308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FB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874519"/>
            <a:ext cx="21488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B88A2E"/>
                </a:solidFill>
                <a:latin typeface="Calibri"/>
              </a:rPr>
              <a:t>PATIENT B</a:t>
            </a: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2A3A"/>
                </a:solidFill>
                <a:latin typeface="Calibri"/>
              </a:rPr>
              <a:t>PTA-4 = 26 dB HL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1B2A3A"/>
                </a:solidFill>
                <a:latin typeface="Calibri"/>
              </a:rPr>
              <a:t>Label: Mild hearing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5029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One decibel, well within the test–retest variability of audiometry (±5–10 dB), produces categorically different labels, follow-up and candidacy decisions.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074920" cy="1920240"/>
          </a:xfrm>
          <a:prstGeom prst="roundRect">
            <a:avLst>
              <a:gd name="adj" fmla="val 7000"/>
            </a:avLst>
          </a:prstGeom>
          <a:solidFill>
            <a:srgbClr val="EF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224528"/>
            <a:ext cx="4754880" cy="1737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0B2545"/>
                </a:solidFill>
                <a:latin typeface="Calibri"/>
              </a:rPr>
              <a:t>What a single PTA number discards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A 4 kHz notch and a flat 30 dB loss share one grade, with very different functional profiles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Configuration and asymmetry are invisible to a pure-tone average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1430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325880"/>
            <a:ext cx="507492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400" b="1" i="0">
                <a:solidFill>
                  <a:srgbClr val="0B2545"/>
                </a:solidFill>
                <a:latin typeface="Georgia"/>
              </a:rPr>
              <a:t>39.2%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240280"/>
            <a:ext cx="5074920" cy="960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A3A"/>
                </a:solidFill>
                <a:latin typeface="Calibri"/>
              </a:rPr>
              <a:t>of ears fall within ±5 dB of a WHO severity boundary — the zone where crisp labels are most fragile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7472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657600"/>
            <a:ext cx="507492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1D7874"/>
                </a:solidFill>
                <a:latin typeface="Georgia"/>
              </a:rPr>
              <a:t>±5–10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074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B2A3A"/>
                </a:solidFill>
                <a:latin typeface="Calibri"/>
              </a:rPr>
              <a:t>test–retest variability of pure-tone audiometry — smaller than the gaps crisp rules insist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44068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Goodman (1965) → Clark (1981) → WHO World Report on Hearing (2021): the classification has barely changed in fifty years.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solution: fuzzy sets for graded severity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CRISP LOGIC —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98348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Binary membership: a threshold is in one category or not at all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Sharp cutoffs at 25 / 40 / 55 / 70 / 90 dB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No frequency resolution beyond an average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No configuration typing or asymmetry scoring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188720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FUZZY LOGIC — THIS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98348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Gradual membership (0 → 1) in every severity category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Overlapping trapezoidal functions at each boundary (2.0 dB overlap)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Continuous FAI score (0–100), frequency-resolved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Configuration vector + asymmetry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86400"/>
            <a:ext cx="11201400" cy="777240"/>
          </a:xfrm>
          <a:prstGeom prst="roundRect">
            <a:avLst>
              <a:gd name="adj" fmla="val 10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3564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Fuzzy Audiometric Index (FAI): continuous 0–100 · frequency-resolved · interpretable rule 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Methods: data and the Mamdani fuzzy inference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12064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46634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Georgia"/>
              </a:rPr>
              <a:t>Data: 3 NHANES adult cycles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66344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Adults 20–69 y: 3 NHANES cycles (1999-2000, 2011-12, 2015-16), n = 10,889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80/20 ear-level split: 15,654 training / 3,914 held-out test ears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Membership functions and rule base developed on the training set only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All metrics reported on the held-out test set</a:t>
            </a:r>
          </a:p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1D7874"/>
                </a:solidFill>
                <a:latin typeface="Calibri"/>
              </a:rPr>
              <a:t>Comparators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PTA-4 (WHO) crisp classification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XGBoost and Random Forest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Implementation: scikit-fuzzy (v0.5.0), scikit-learn, XGBoost, SciPy</a:t>
            </a:r>
          </a:p>
        </p:txBody>
      </p:sp>
      <p:pic>
        <p:nvPicPr>
          <p:cNvPr id="9" name="Picture 8" descr="fig2_fis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463040"/>
            <a:ext cx="5806440" cy="287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4448776"/>
            <a:ext cx="580644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Mamdani FIS: 7 frequency thresholds → fuzzification → 48 rules → centroid defuzzification → FAI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Fuzzification: trapezoidal membership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1_membership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943600" cy="35348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860726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0" i="1">
                <a:solidFill>
                  <a:srgbClr val="5A6B7B"/>
                </a:solidFill>
                <a:latin typeface="Calibri"/>
              </a:rPr>
              <a:t>Overlapping trapezoids for six severity categories, with NHANES density overlay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46320"/>
            <a:ext cx="5943600" cy="1417320"/>
          </a:xfrm>
          <a:prstGeom prst="roundRect">
            <a:avLst>
              <a:gd name="adj" fmla="val 7000"/>
            </a:avLst>
          </a:prstGeom>
          <a:solidFill>
            <a:srgbClr val="E4F0F0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80"/>
            <a:ext cx="55778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 i="0">
                <a:solidFill>
                  <a:srgbClr val="1D7874"/>
                </a:solidFill>
                <a:latin typeface="Calibri"/>
              </a:rPr>
              <a:t>Why trapezoids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50" b="0" i="0">
                <a:solidFill>
                  <a:srgbClr val="1B2A3A"/>
                </a:solidFill>
                <a:latin typeface="Calibri"/>
              </a:rPr>
              <a:t>NHANES severity distributions are asymmetric with plateau cores — poorly captured by triangular or Gaussian shapes.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0" y="1234440"/>
          <a:ext cx="5038344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722376"/>
                <a:gridCol w="722376"/>
                <a:gridCol w="722376"/>
                <a:gridCol w="72237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6.4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27.8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25.8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26.3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36.4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43.5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41.5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42.0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54.3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58.5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Moderately Severe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56.5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57.0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67.9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73.5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71.5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72.0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83.7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93.0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Profound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91.0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91.5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104.6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120.0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0" y="4114800"/>
            <a:ext cx="5029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1">
                <a:solidFill>
                  <a:srgbClr val="5A6B7B"/>
                </a:solidFill>
                <a:latin typeface="Calibri"/>
              </a:rPr>
              <a:t>Optimised on the NHANES training distribution [a, b, c, d]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526280"/>
            <a:ext cx="502920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663440"/>
            <a:ext cx="466344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Exactly 2.0 dB overlap at each WHO boundary → smooth transitions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B2A3A"/>
                </a:solidFill>
                <a:latin typeface="Calibri"/>
              </a:rPr>
              <a:t>26 dB HL → </a:t>
            </a:r>
            <a:r>
              <a:rPr sz="1200" b="1" i="0">
                <a:solidFill>
                  <a:srgbClr val="1D7874"/>
                </a:solidFill>
                <a:latin typeface="Calibri"/>
              </a:rPr>
              <a:t>Normal μ 0.16</a:t>
            </a:r>
            <a:r>
              <a:rPr sz="1200" b="0" i="0">
                <a:solidFill>
                  <a:srgbClr val="1B2A3A"/>
                </a:solidFill>
                <a:latin typeface="Calibri"/>
              </a:rPr>
              <a:t> and </a:t>
            </a:r>
            <a:r>
              <a:rPr sz="1200" b="1" i="0">
                <a:solidFill>
                  <a:srgbClr val="1D7874"/>
                </a:solidFill>
                <a:latin typeface="Calibri"/>
              </a:rPr>
              <a:t>Mild μ 0.40</a:t>
            </a:r>
            <a:r>
              <a:rPr sz="1200" b="0" i="0">
                <a:solidFill>
                  <a:srgbClr val="1B2A3A"/>
                </a:solidFill>
                <a:latin typeface="Calibri"/>
              </a:rPr>
              <a:t>: borderline, not binary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Rule base: 48 audiology-derived rules in four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99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SEVERITY · 12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Map thresholds to severity output; blended rules handle transitional zones.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32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threshold is Mild AND slope is Flat
THEN severity is Mild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99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D7874"/>
                </a:solidFill>
                <a:latin typeface="Calibri"/>
              </a:rPr>
              <a:t>CONFIGURATION · 14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Combine slope and notch to type the audiogram shape.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32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slope is Steeply Sloping AND notch is Deep
THEN configuration is Notched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85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ASYMMETRY · 12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Score inter-aural differences and adjust severity.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18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inter-aural difference &gt; 30 dB at 3+ frequencies
THEN asymmetry is Severely Asymmetric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520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685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D7874"/>
                </a:solidFill>
                <a:latin typeface="Calibri"/>
              </a:rPr>
              <a:t>MIXED-LOSS · 10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69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Handle complex presentations combining all dimensions.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818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asymmetric AND notched
THEN flag mixed aetiology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06440"/>
            <a:ext cx="11201400" cy="5943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806440"/>
            <a:ext cx="1083564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Mamdani min–max composition · centroid-of-area defuzzification · FAI 0–100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Results: FAI vs WHO PTA-4 and ML comparators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69494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554480"/>
                <a:gridCol w="155448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Weighted κ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Borderline (±5 dB)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Clear-case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FAI (fuzzy)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74.9%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95.2%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PTA-4 (WHO)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1.00*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93.5%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93.8%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520440"/>
            <a:ext cx="69494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50" b="0" i="1">
                <a:solidFill>
                  <a:srgbClr val="5A6B7B"/>
                </a:solidFill>
                <a:latin typeface="Calibri"/>
              </a:rPr>
              <a:t>*PTA-4 is the reference standard; borderline accuracy reflects discrepancy within ±5 dB of thresholds.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31920"/>
            <a:ext cx="6949440" cy="1234440"/>
          </a:xfrm>
          <a:prstGeom prst="roundRect">
            <a:avLst>
              <a:gd name="adj" fmla="val 7000"/>
            </a:avLst>
          </a:prstGeom>
          <a:solidFill>
            <a:srgbClr val="E4F0F0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658368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In borderline cases (±5 dB), the fuzzy system deliberately reclassifies (74.9% agree with the crisp grade) while matching it in clear cases (95.2%).</a:t>
            </a:r>
          </a:p>
        </p:txBody>
      </p:sp>
      <p:pic>
        <p:nvPicPr>
          <p:cNvPr id="10" name="Picture 9" descr="fig3_bland_alt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234440"/>
            <a:ext cx="3977639" cy="27895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26679" y="4097167"/>
            <a:ext cx="3977639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0" i="1">
                <a:solidFill>
                  <a:srgbClr val="5A6B7B"/>
                </a:solidFill>
                <a:latin typeface="Calibri"/>
              </a:rPr>
              <a:t>Bland–Altman: FAI vs PTA-4 reference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4617720"/>
            <a:ext cx="3977639" cy="86868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654296"/>
            <a:ext cx="3703320" cy="45171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κ = 0.76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104180"/>
            <a:ext cx="3703320" cy="34747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vs WHO PTA-4 reference, 20–69 y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55778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614416"/>
            <a:ext cx="3703320" cy="4041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ρ = 0.61 · MAE 6.0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6013094"/>
            <a:ext cx="3703320" cy="31089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FAI vs PTA-4, n = 3,914 test ears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25/26 dB boundary: graded, not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58521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960120"/>
                <a:gridCol w="960120"/>
                <a:gridCol w="777240"/>
                <a:gridCol w="1097280"/>
                <a:gridCol w="10972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PTA-4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Crisp label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Fuzzy label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Normal μ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Mild μ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24 dB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25 dB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26 dB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0.16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30 dB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20.4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206240"/>
            <a:ext cx="58521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548640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A patient with PTA 26 dB is simultaneously 16% normal and 40% mild — the crisp label hides this ambiguity.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FAI rises smoothly from 9.3 at 24 dB to 20.4 at 30 dB; crisp rules impose a step at 26 dB.</a:t>
            </a:r>
          </a:p>
        </p:txBody>
      </p:sp>
      <p:pic>
        <p:nvPicPr>
          <p:cNvPr id="9" name="Picture 8" descr="fig5_borderlin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234440"/>
            <a:ext cx="5074920" cy="3255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9400" y="4563544"/>
            <a:ext cx="50749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The fuzzy system deviates from crisp labels in the borderline zone (agreement 59–75% within ±1–5 dB) while matching crisp in clear cases (95.2%)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Clinical case studies from NHANES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4_clinica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532120" cy="48602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03851"/>
            <a:ext cx="55321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50" b="0" i="1">
                <a:solidFill>
                  <a:srgbClr val="5A6B7B"/>
                </a:solidFill>
                <a:latin typeface="Calibri"/>
              </a:rPr>
              <a:t>Four representative audiograms with membership bar charts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18872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28016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A · BORDERLINE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27.5 dB “Mild” · FAI 20.4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Normal μ 0.04, Mild μ 1.00 — graded, not forced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83464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B · MASKED NOTCH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23 dB “Normal”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25 dB notch at 4 kHz · Notched μ 0.78 — PTA missed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448056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457200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C · PRESBYCUSIS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33.8 dB “Mild” · FAI 20.4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Sloping 35 dB — frequency gradient preserved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553212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5623559"/>
            <a:ext cx="4983480" cy="914399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D · ASYMMETRY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R 53.8 dB Mod / L 28.8 Mild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Composite FAI 54.5 (Mod-Sev) — impact quantified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Configuration typing and asymmetry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_eda_confi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480560" cy="27125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020174"/>
            <a:ext cx="44805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Configuration distribution, combined adult cohort (slope = 4 kHz − 500 Hz)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234440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1271016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E8B54A"/>
                </a:solidFill>
                <a:latin typeface="Georgia"/>
              </a:rPr>
              <a:t>Flat 56.7% · Gently sloping 18.0%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823313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dominant configurations (4 kHz − 500 Hz)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2441448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2478024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Steeply 8.8% · Precipitous 3.5% · Rising 13.0%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030321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exploratory output; accuracy table not reproducible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648456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3685032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6-shape membership 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4237329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graded configuration typing per 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4855464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4892040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5.1% of participants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44337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exceed 15 dB inter-aural difference; continuous index feeds severity adjustment (Case 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Longitudinal tracking: sub-threshold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7_longitud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11201400" cy="3626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888655"/>
            <a:ext cx="11201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50" b="0" i="1">
                <a:solidFill>
                  <a:srgbClr val="5A6B7B"/>
                </a:solidFill>
                <a:latin typeface="Calibri"/>
              </a:rPr>
              <a:t>FAI trajectories (coloured) vs PTA grade (grey steps) over 4–8 years — smooth progression instead of discrete jumps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+1.7 pts/yr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mean annual FAI change, age-related subgroup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1 grade / 4.2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PTA steps between categories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28%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FAI shifts ≥ 5 pts without crossing a PTA boundary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Clinical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Audiologic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Flag patients straddling severity boundaries for monitoring instead of forcing one label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Hearing aid 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Continuous FAI maps to gain; configuration vector guides frequency-specific amplification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9016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Ototoxicity monitoring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≥ 5-point FAI shifts (cisplatin, aminoglycosides) before PTA crosses a 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Noise surveillance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Notch detection flags early noise damage despite a normal PTA (Case 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5968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Low-resource settings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Runs on mobile audiometry (hearWHO, Mimi); interpretable and computationally light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6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9016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6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Research endpoints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Continuous outcome for hearing-preservation and rehabilitation trials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Georgia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50292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Air-conduction thresholds only — bone conduction needed for mixed-loss detection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Rule base expert-derived, not yet through formal Delphi consensus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NHANES skews toward mild–moderate age-related loss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No extended high-frequency audiometry (10–16 kHz)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Reference standard (WHO PTA-4) carries the same boundary issue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Outcome validation pending (hearing aids, CI candidacy)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18872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1D7874"/>
                </a:solidFill>
                <a:latin typeface="Georgia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83080"/>
            <a:ext cx="50292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Multi-site validation — paediatric and Menière’s cohorts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Mobile audiometry integration for community screening in low-resource settings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Web-based FAI calculator with REST API for EHR integration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Neuro-fuzzy learning (ANFIS) — learn rule parameters from data while staying interpretable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FAI as a continuous feature for ML outcome models (speech-in-noise, hearing aid outcomes, CI candidacy)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42532"/>
            <a:ext cx="91440" cy="1143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28232"/>
            <a:ext cx="91440" cy="2286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68212"/>
            <a:ext cx="91440" cy="38862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131052"/>
            <a:ext cx="91440" cy="5257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71032"/>
            <a:ext cx="91440" cy="6858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856732"/>
            <a:ext cx="91440" cy="8001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71032"/>
            <a:ext cx="91440" cy="6858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131052"/>
            <a:ext cx="91440" cy="5257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68212"/>
            <a:ext cx="91440" cy="38862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28232"/>
            <a:ext cx="91440" cy="2286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42532"/>
            <a:ext cx="91440" cy="1143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777240"/>
            <a:ext cx="10725912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400" b="1" i="0">
                <a:solidFill>
                  <a:srgbClr val="E8B54A"/>
                </a:solidFill>
                <a:latin typeface="Calibri"/>
              </a:rPr>
              <a:t>TAKE-HOME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1600200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1600200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600200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A continuous, frequency-resolved Fuzzy Audiometric Index preserves the gradation that crisp PTA thresholds discard.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2807208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807208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07208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κ = 0.76 against WHO PTA-4; 95.2% agreement in clear cases, with deliberate graded reclassification in the borderline zone (74.9%).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014216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4014216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014216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Interpretable by design — a rule base clinicians can inspect, question and modify.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40680"/>
            <a:ext cx="98115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50" b="0" i="1">
                <a:solidFill>
                  <a:srgbClr val="E8B54A"/>
                </a:solidFill>
                <a:latin typeface="Calibri"/>
              </a:rPr>
              <a:t>“As audiology moves toward personalised, data-driven care, fuzzy logic keeps the continuity of auditory function front and centre.”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776722"/>
            <a:ext cx="91440" cy="88011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13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9443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59755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0067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80379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0691" y="6176772"/>
            <a:ext cx="91440" cy="4800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1003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11315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1627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31939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225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1737360"/>
            <a:ext cx="10725912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97480"/>
            <a:ext cx="107259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800" b="0" i="0">
                <a:solidFill>
                  <a:srgbClr val="BFD0E0"/>
                </a:solidFill>
                <a:latin typeface="Calibri"/>
              </a:rPr>
              <a:t>Questions and discussion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794760"/>
            <a:ext cx="107259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Dr. Sanyaolu Ameye (MBBS, FWACS, FMCORL, Pg Cert ML/AI, MSc Data Science)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BFD0E0"/>
                </a:solidFill>
                <a:latin typeface="Calibri"/>
              </a:rPr>
              <a:t>ENT Surgeon and Data Scientist</a:t>
            </a:r>
          </a:p>
          <a:p>
            <a:pPr algn="ctr"/>
            <a:r>
              <a:rPr sz="1300" b="0" i="0">
                <a:solidFill>
                  <a:srgbClr val="BFD0E0"/>
                </a:solidFill>
                <a:latin typeface="Calibri"/>
              </a:rPr>
              <a:t>King Fahad Specialist Hospital, Tabuk, Kingdom of Saudi Arabia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00600"/>
            <a:ext cx="10725912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E8B54A"/>
                </a:solidFill>
                <a:latin typeface="Calibri"/>
              </a:rPr>
              <a:t>sanyaameye@hotmail.com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9240"/>
            <a:ext cx="10725912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0" i="0">
                <a:solidFill>
                  <a:srgbClr val="9AB0C6"/>
                </a:solidFill>
                <a:latin typeface="Calibri"/>
              </a:rPr>
              <a:t>Code and data: github.com/ameye/fuzzy-audiogram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