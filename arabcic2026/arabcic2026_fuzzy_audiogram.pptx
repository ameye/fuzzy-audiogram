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Hearing loss classification has barely changed since Goodman in 1965. This talk presents a fuzzy logic framework that preserves the diagnostic gradation that crisp WHO thresholds discard, validated on three NHANES adult cycles (20–69 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patients separated by a single decibel are categorically different under WHO rules, even though a decibel sits inside audiometry's own test-retest error. Nearly four in ten ears in NHANES sit within 5 dB of a boundary. And the PTA throws away frequency-specific detail and configuration entirely.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Fuzzy set theory, introduced by Zadeh, lets a threshold belong to several severity categories at once. The result is a continuous Fuzzy Audiometric Index, a configuration vector, and an asymmetry index — all produced by an interpretable rule base rather than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combined three NHANES cycles that tested adults 20-69 y (10,889 participants; 19,568 clean ears). An 80/20 stratified split keeps every WHO category in both partitions, and everything is optimised on training and reported on the held-out test set. Comparators are the WHO PTA-4 rules, XGBoost and Random Forest.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frequency band has six overlapping trapezoidal membership functions. The optimised parameters sit a few dB to the right of the classic WHO cutoffs, with exactly 2 dB of overlap, so a 26 dB threshold is simultaneously 16% normal and 40% mild.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Forty-eight expert-derived rules in four groups: severity, configuration, asymmetry and mixed-loss patterns. Inference uses Mamdani min-max composition with centroid-of-area defuzzification to produce the continuous FAI.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combined 20-69 y test set the FAI shows substantial agreement with the WHO PTA-4 reference (kappa 0.93, Spearman 0.80) and matches the crisp grade on 98.4% of clear cases. 18.8% of test ears sit within 5 dB of a severity boundary; there the system returns graded membership (84.9% agreement with the crisp label) rather than forcing a binary choice. Spearman is attenuated by range restriction (88.6% normal). The ML comparators regress PTA-4 itself and are reference-in-disguise, not independent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clinical core. At the normal-mild boundary the fuzzy system reports graded membership instead of a forced binary label; it matches the crisp label in clear cases (98.4%) while deliberately deviating from it in the borderline zone (agreement 83–86% within ±1–3 dB).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cases illustrate the clinical value. A borderline patient gets graded membership rather than a forced label. A noise notch is caught despite a normal PTA. Presbycusis keeps its frequency gradient. And asymmetric loss has its impact quantified and folded into the severity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typing is an exploratory output: the combined adult cohort is predominantly flat and gently sloping, and the fuzzy shape rules emit a six-category membership vector. Asymmetry affects 5.1% of the cohort at the 15 dB threshold, and the fuzzy index quantifies it continuously.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120-participant longitudinal sub-cohort the FAI moves continuously, about 1.7 points per year in age-related loss, while PTA grades step once every 4.2 years. 28% of participants showed a change of 5 or more FAI points without crossing any PTA boundary — sub-threshold shifts that include both ototoxicity and recovery after acute noise exposure.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framework has practical routes into care: more honest triage, gain programming for hearing aids, earlier ototoxicity detection, noise surveillance, low-resource mobile screening, and a continuous endpoint for trials.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limitations: air-conduction only, no Delphi consensus yet, NHANES's mild-to-moderate skew, no extended high frequencies, and outcome validation still pending. Next: multi-site validation, mobile integration, a web calculator, ANFIS, and using the FAI as a feature in outcome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messages: the FAI preserves gradation, it deliberately reclassifies borderline cases where crisp labels force a binary choice, and it stays interpretable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Happy to take questions on the rule base, the validation, or deployment plans for cochlear implant and hearing aid pathways.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77724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4TH ARAB COCHLEAR IMPLANT CONFERENCE  ·  ARABCIC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1170432"/>
            <a:ext cx="1072591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BFD0E0"/>
                </a:solidFill>
                <a:latin typeface="Calibri"/>
              </a:rPr>
              <a:t>Jeddah, Kingdom of Saudi Arabia  ·  26–28 November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1874519"/>
            <a:ext cx="10725912" cy="1600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Georgia"/>
              </a:rPr>
              <a:t>A Fuzzy Logic Framework for Sensorineural Hearing Loss 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310128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700" b="0" i="1">
                <a:solidFill>
                  <a:srgbClr val="E8B54A"/>
                </a:solidFill>
                <a:latin typeface="Calibri"/>
              </a:rPr>
              <a:t>Preserving diagnostic gradation lost to crisp WHO thresholds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60520"/>
            <a:ext cx="10725912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11680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148840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10,889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adults 20–69 y · 3 NHANES cycles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10328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488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audiology-derived fuzzy rules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5303520"/>
            <a:ext cx="2377440" cy="96012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46136" y="5340096"/>
            <a:ext cx="2103120" cy="49926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400" b="1" i="0">
                <a:solidFill>
                  <a:srgbClr val="E8B54A"/>
                </a:solidFill>
                <a:latin typeface="Georgia"/>
              </a:rPr>
              <a:t>0–100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6136" y="5841187"/>
            <a:ext cx="2103120" cy="3840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continuous FAI scale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problem: crisp thresholds on continuous biology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5486400" cy="50749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0B2545"/>
                </a:solidFill>
                <a:latin typeface="Georgia"/>
              </a:rPr>
              <a:t>One decibel changes the label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E4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PATIENT A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25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Normal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83080"/>
            <a:ext cx="2423160" cy="1417320"/>
          </a:xfrm>
          <a:prstGeom prst="roundRect">
            <a:avLst>
              <a:gd name="adj" fmla="val 8000"/>
            </a:avLst>
          </a:prstGeom>
          <a:solidFill>
            <a:srgbClr val="FB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874519"/>
            <a:ext cx="21488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B88A2E"/>
                </a:solidFill>
                <a:latin typeface="Calibri"/>
              </a:rPr>
              <a:t>PATIENT B</a:t>
            </a:r>
          </a:p>
          <a:p>
            <a:pPr algn="l">
              <a:spcBef>
                <a:spcPts val="400"/>
              </a:spcBef>
            </a:pPr>
            <a:r>
              <a:rPr sz="1500" b="1" i="0">
                <a:solidFill>
                  <a:srgbClr val="1B2A3A"/>
                </a:solidFill>
                <a:latin typeface="Calibri"/>
              </a:rPr>
              <a:t>PTA-4 = 26 dB HL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1B2A3A"/>
                </a:solidFill>
                <a:latin typeface="Calibri"/>
              </a:rPr>
              <a:t>Label: Mild hearing 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5029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One decibel, well within the test–retest variability of audiometry (±5–10 dB), produces categorically different labels, follow-up and candidacy decisions.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5074920" cy="1920240"/>
          </a:xfrm>
          <a:prstGeom prst="roundRect">
            <a:avLst>
              <a:gd name="adj" fmla="val 7000"/>
            </a:avLst>
          </a:prstGeom>
          <a:solidFill>
            <a:srgbClr val="EFF4F8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224528"/>
            <a:ext cx="4754880" cy="1737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0B2545"/>
                </a:solidFill>
                <a:latin typeface="Calibri"/>
              </a:rPr>
              <a:t>What a single PTA number discards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 4 kHz notch and a flat 30 dB loss share one grade, with very different functional profiles</a:t>
            </a:r>
          </a:p>
          <a:p>
            <a:pPr algn="l">
              <a:lnSpc>
                <a:spcPct val="112000"/>
              </a:lnSpc>
              <a:spcBef>
                <a:spcPts val="500"/>
              </a:spcBef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Configuration and asymmetry are invisible to a pure-tone average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143000"/>
            <a:ext cx="54406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325880"/>
            <a:ext cx="507492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400" b="1" i="0">
                <a:solidFill>
                  <a:srgbClr val="0B2545"/>
                </a:solidFill>
                <a:latin typeface="Georgia"/>
              </a:rPr>
              <a:t>39.2%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240280"/>
            <a:ext cx="5074920" cy="9601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A3A"/>
                </a:solidFill>
                <a:latin typeface="Calibri"/>
              </a:rPr>
              <a:t>of ears fall within ±5 dB of a WHO severity boundary — the zone where crisp labels are most fragile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47472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657600"/>
            <a:ext cx="507492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1D7874"/>
                </a:solidFill>
                <a:latin typeface="Georgia"/>
              </a:rPr>
              <a:t>±5–10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389120"/>
            <a:ext cx="5074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test–retest variability of pure-tone audiometry — smaller than the gaps crisp rules insist 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4406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Goodman (1965) → Clark (1981) → WHO World Report on Hearing (2021): the classification has barely changed in fifty years.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solution: fuzzy sets for graded severity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CRISP LOGIC —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Binary membership: a threshold is in one category or not at all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Sharp cutoffs at 25 / 40 / 55 / 70 / 90 dB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frequency resolution beyond an average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0392B"/>
                </a:solidFill>
                <a:latin typeface="Calibri"/>
              </a:rPr>
              <a:t>✗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No configuration typing or asymmetry scoring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486400" cy="4114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118872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FUZZY LOGIC — THIS STUDY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98348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Gradual membership (0 → 1) in every severity category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Overlapping trapezoidal functions at each boundary (2.0 dB overlap)</a:t>
            </a:r>
          </a:p>
          <a:p>
            <a:pPr algn="l">
              <a:spcAft>
                <a:spcPts val="110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Continuous FAI score (0–100), frequency-resolved</a:t>
            </a:r>
          </a:p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D7874"/>
                </a:solidFill>
                <a:latin typeface="Calibri"/>
              </a:rPr>
              <a:t>✓  </a:t>
            </a:r>
            <a:r>
              <a:rPr sz="1350" b="0" i="0">
                <a:solidFill>
                  <a:srgbClr val="1B2A3A"/>
                </a:solidFill>
                <a:latin typeface="Calibri"/>
              </a:rPr>
              <a:t>Configuration vector + asymmetry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0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35640" cy="7772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50" b="1" i="0">
                <a:solidFill>
                  <a:srgbClr val="FFFFFF"/>
                </a:solidFill>
                <a:latin typeface="Calibri"/>
              </a:rPr>
              <a:t>Fuzzy Audiometric Index (FAI): continuous 0–100 · frequency-resolved · interpretable rule 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Methods: data and the Mamdani fuzzy inference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12064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Data: 3 NHANES adult cycles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66344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Adults 20–69 y: 3 NHANES cycles (1999-2000, 2011-12, 2015-16), n = 10,889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80/20 ear-level split: 15,654 training / 3,914 held-out test ears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Membership functions and rule base developed on the training set only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All metrics reported on the held-out test set</a:t>
            </a:r>
          </a:p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1D7874"/>
                </a:solidFill>
                <a:latin typeface="Calibri"/>
              </a:rPr>
              <a:t>Comparators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PTA-4 (WHO) crisp classification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•  XGBoost and Random Forest</a:t>
            </a:r>
          </a:p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Implementation: scikit-fuzzy (v0.5.0), scikit-learn, XGBoost, SciPy</a:t>
            </a:r>
          </a:p>
        </p:txBody>
      </p:sp>
      <p:pic>
        <p:nvPicPr>
          <p:cNvPr id="9" name="Picture 8" descr="fig2_fis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463040"/>
            <a:ext cx="5806440" cy="287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4448776"/>
            <a:ext cx="58064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1">
                <a:solidFill>
                  <a:srgbClr val="5A6B7B"/>
                </a:solidFill>
                <a:latin typeface="Calibri"/>
              </a:rPr>
              <a:t>Mamdani FIS: 7 frequency thresholds → fuzzification → 48 rules → centroid defuzzification → FAI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Fuzzification: trapezoidal membership functions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1_membership_fun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5943600" cy="35348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60726"/>
            <a:ext cx="5943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1">
                <a:solidFill>
                  <a:srgbClr val="5A6B7B"/>
                </a:solidFill>
                <a:latin typeface="Calibri"/>
              </a:rPr>
              <a:t>Overlapping trapezoids for six severity categories, with NHANES density overlay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5943600" cy="141732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557784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50" b="1" i="0">
                <a:solidFill>
                  <a:srgbClr val="1D7874"/>
                </a:solidFill>
                <a:latin typeface="Calibri"/>
              </a:rPr>
              <a:t>Why trapezoids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1150" b="0" i="0">
                <a:solidFill>
                  <a:srgbClr val="1B2A3A"/>
                </a:solidFill>
                <a:latin typeface="Calibri"/>
              </a:rPr>
              <a:t>NHANES severity distributions are asymmetric with plateau cores — poorly captured by triangular or Gaussian shapes.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0" y="1234440"/>
          <a:ext cx="5038344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722376"/>
                <a:gridCol w="722376"/>
                <a:gridCol w="722376"/>
                <a:gridCol w="72237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0.0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27.8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25.8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26.3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36.4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54.3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58.5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Moderately Severe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56.5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57.0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67.9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73.5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Severe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71.5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72.0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83.7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93.0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Profound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91.5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104.6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B2A3A"/>
                          </a:solidFill>
                          <a:latin typeface="Calibri"/>
                        </a:rPr>
                        <a:t>120.0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0" y="4114800"/>
            <a:ext cx="5029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0" i="1">
                <a:solidFill>
                  <a:srgbClr val="5A6B7B"/>
                </a:solidFill>
                <a:latin typeface="Calibri"/>
              </a:rPr>
              <a:t>Optimised on the NHANES training distribution [a, b, c, d]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526280"/>
            <a:ext cx="50292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663440"/>
            <a:ext cx="466344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Exactly 2.0 dB overlap at each WHO boundary → smooth transitions</a:t>
            </a:r>
          </a:p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1B2A3A"/>
                </a:solidFill>
                <a:latin typeface="Calibri"/>
              </a:rPr>
              <a:t>26 dB HL →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Normal μ 0.16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 and </a:t>
            </a:r>
            <a:r>
              <a:rPr sz="1200" b="1" i="0">
                <a:solidFill>
                  <a:srgbClr val="1D7874"/>
                </a:solidFill>
                <a:latin typeface="Calibri"/>
              </a:rPr>
              <a:t>Mild μ 0.40</a:t>
            </a:r>
            <a:r>
              <a:rPr sz="1200" b="0" i="0">
                <a:solidFill>
                  <a:srgbClr val="1B2A3A"/>
                </a:solidFill>
                <a:latin typeface="Calibri"/>
              </a:rPr>
              <a:t>: borderline, not binary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Rule base: 48 audiology-derived rules in four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SEVERITY · 12 RULES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Map thresholds to severity output; blended rules handle transitional zones.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threshold is Mild AND slope is Flat
THEN severity is Mild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99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CONFIGURATION · 14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Combine slope and notch to type the audiogram shape.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532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slope is Steeply Sloping AND notch is Deep
THEN configuration is Notched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ASYMMETRY · 12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Score inter-aural differences and adjust severity.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inter-aural difference &gt; 30 dB at 3+ frequencies
THEN asymmetry is Severely Asymmetric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3685032"/>
            <a:ext cx="49834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1D7874"/>
                </a:solidFill>
                <a:latin typeface="Calibri"/>
              </a:rPr>
              <a:t>MIXED-LOSS · 10 RULES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Handle complex presentations combining all dimensions.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818888"/>
            <a:ext cx="498348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IF asymmetric AND notched
THEN flag mixed aetiology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806440"/>
            <a:ext cx="11201400" cy="5943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806440"/>
            <a:ext cx="1083564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Mamdani min–max composition · centroid-of-area defuzzification · FAI 0–100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Results: FAI vs WHO PTA-4 and ML comparators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9494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55448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Weighted κ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Borderline (±5 dB)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Clear-case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FAI (fuzzy)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84.9%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98.4%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PTA-4 (WHO)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1.00*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100%*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93.5%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93.8%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B2A3A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520440"/>
            <a:ext cx="69494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50" b="0" i="1">
                <a:solidFill>
                  <a:srgbClr val="5A6B7B"/>
                </a:solidFill>
                <a:latin typeface="Calibri"/>
              </a:rPr>
              <a:t>*PTA-4 is the reference standard; borderline accuracy reflects discrepancy within ±5 dB of thresholds.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7000"/>
            </a:avLst>
          </a:prstGeom>
          <a:solidFill>
            <a:srgbClr val="E4F0F0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69080"/>
            <a:ext cx="658368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In borderline cases (±5 dB), the fuzzy system deliberately reclassifies (84.9% agree with the crisp grade) while matching it in clear cases (98.4%).</a:t>
            </a:r>
          </a:p>
        </p:txBody>
      </p:sp>
      <p:pic>
        <p:nvPicPr>
          <p:cNvPr id="10" name="Picture 9" descr="fig3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234440"/>
            <a:ext cx="3977639" cy="27895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26679" y="4097167"/>
            <a:ext cx="3977639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00" b="0" i="1">
                <a:solidFill>
                  <a:srgbClr val="5A6B7B"/>
                </a:solidFill>
                <a:latin typeface="Calibri"/>
              </a:rPr>
              <a:t>Bland–Altman: FAI vs PTA-4 reference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617720"/>
            <a:ext cx="3977639" cy="86868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654296"/>
            <a:ext cx="3703320" cy="45171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κ = 0.93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5104180"/>
            <a:ext cx="3703320" cy="34747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vs WHO PTA-4 reference, 20–69 y test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5577840"/>
            <a:ext cx="3977639" cy="77724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614416"/>
            <a:ext cx="3703320" cy="40416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eorgia"/>
              </a:rPr>
              <a:t>ρ = 0.80 · MAE 5.1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6013094"/>
            <a:ext cx="3703320" cy="310896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FAI vs PTA-4, n = 3,914 test ears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The 25/26 dB boundary: graded, not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85216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960120"/>
                <a:gridCol w="960120"/>
                <a:gridCol w="777240"/>
                <a:gridCol w="1097280"/>
                <a:gridCol w="10972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PTA-4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Crisp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Fuzzy label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FAI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Normal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Mild μ</a:t>
                      </a:r>
                    </a:p>
                  </a:txBody>
                  <a:tcPr marL="76200" marR="76200" marT="25400" marB="25400" anchor="ctr">
                    <a:solidFill>
                      <a:srgbClr val="0B2545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24 dB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11.3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Normal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11.6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26 dB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25.7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0.16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0.40</a:t>
                      </a:r>
                    </a:p>
                  </a:txBody>
                  <a:tcPr marL="76200" marR="76200" marT="25400" marB="25400" anchor="ctr">
                    <a:solidFill>
                      <a:srgbClr val="FBF3E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 dB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Mild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30.0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3A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76200" marR="76200" marT="25400" marB="25400" anchor="ctr">
                    <a:solidFill>
                      <a:srgbClr val="EF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206240"/>
            <a:ext cx="58521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486400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1B2A3A"/>
                </a:solidFill>
                <a:latin typeface="Calibri"/>
              </a:rPr>
              <a:t>A patient with PTA 26 dB is simultaneously 16% normal and 40% mild — the crisp label hides this ambiguity.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2A3A"/>
                </a:solidFill>
                <a:latin typeface="Calibri"/>
              </a:rPr>
              <a:t>FAI rises smoothly from 11.3 at 24 dB to 30.0 at 30 dB; crisp rules impose a step at 26 dB.</a:t>
            </a:r>
          </a:p>
        </p:txBody>
      </p:sp>
      <p:pic>
        <p:nvPicPr>
          <p:cNvPr id="9" name="Picture 8" descr="fig5_borderlin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234440"/>
            <a:ext cx="5074920" cy="3255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29400" y="4563544"/>
            <a:ext cx="50749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The fuzzy system deviates from crisp labels in the borderline zone (agreement 83–87% within ±1–5 dB) while matching crisp in clear cases (98.4%)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case studies from NHANES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4_clinica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5532120" cy="48602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03851"/>
            <a:ext cx="553212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950" b="0" i="1">
                <a:solidFill>
                  <a:srgbClr val="5A6B7B"/>
                </a:solidFill>
                <a:latin typeface="Calibri"/>
              </a:rPr>
              <a:t>Four representative audiograms with membership bar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118872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128016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A · BORDERLINE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27.5 dB “Mild” · FAI 29.4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Normal μ 0.04, Mild μ 1.00 — graded, not forced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83464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B · MASKED NOTCH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23 dB “Normal”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25 dB notch at 4 kHz · Notched μ 0.78 — PTA missed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80560"/>
            <a:ext cx="534924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4572000"/>
            <a:ext cx="49834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C · PRESBYCUSIS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PTA 33.8 dB “Mild” · FAI 30.0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Sloping 35 dB — frequency gradient preserved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5532120"/>
            <a:ext cx="534924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5623559"/>
            <a:ext cx="4983480" cy="914399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 i="0">
                <a:solidFill>
                  <a:srgbClr val="1D7874"/>
                </a:solidFill>
                <a:latin typeface="Calibri"/>
              </a:rPr>
              <a:t>D · ASYMMETRY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1B2A3A"/>
                </a:solidFill>
                <a:latin typeface="Calibri"/>
              </a:rPr>
              <a:t>R 53.8 dB Mod / L 28.8 Mild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r>
              <a:rPr sz="1050" b="0" i="0">
                <a:solidFill>
                  <a:srgbClr val="5A6B7B"/>
                </a:solidFill>
                <a:latin typeface="Calibri"/>
              </a:rPr>
              <a:t>Composite FAI 54.5 (Mod-Sev) — impact quantified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Configuration typing and asymmetry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_eda_confi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480560" cy="27125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20174"/>
            <a:ext cx="448056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1">
                <a:solidFill>
                  <a:srgbClr val="5A6B7B"/>
                </a:solidFill>
                <a:latin typeface="Calibri"/>
              </a:rPr>
              <a:t>Configuration distribution, combined adult cohort (slope = 4 kHz − 500 Hz)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271016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E8B54A"/>
                </a:solidFill>
                <a:latin typeface="Georgia"/>
              </a:rPr>
              <a:t>Flat 56.7% · Gently sloping 18.0%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1823313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dominant configurations (4 kHz − 500 Hz)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2441448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478024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Steeply 8.8% · Precipitous 3.5% · Rising 13.0%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030321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exploratory output; accuracy table not reproducible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648456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685032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6-shape membership 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4237329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graded configuration typing per 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57800" y="4855464"/>
            <a:ext cx="6446520" cy="1051560"/>
          </a:xfrm>
          <a:prstGeom prst="roundRect">
            <a:avLst>
              <a:gd name="adj" fmla="val 12000"/>
            </a:avLst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6172200" cy="546811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Georgia"/>
              </a:rPr>
              <a:t>5.1% of participants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444337"/>
            <a:ext cx="6172200" cy="420623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exceed 15 dB inter-aural difference; continuous index feeds severity adjustment (Case 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Longitudinal tracking: sub-threshold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pic>
        <p:nvPicPr>
          <p:cNvPr id="6" name="Picture 5" descr="fig7_longitud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88720"/>
            <a:ext cx="11201400" cy="3626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888655"/>
            <a:ext cx="11201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050" b="0" i="1">
                <a:solidFill>
                  <a:srgbClr val="5A6B7B"/>
                </a:solidFill>
                <a:latin typeface="Calibri"/>
              </a:rPr>
              <a:t>FAI trajectories (coloured) vs PTA grade (grey steps) over 4–8 years — smooth progression instead of discrete jumps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+1.7 pts/yr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mean annual FAI change, age-related subgroup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1 grade / 4.2 yr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272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PTA steps between categories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5074920"/>
            <a:ext cx="3611880" cy="1143000"/>
          </a:xfrm>
          <a:prstGeom prst="roundRect">
            <a:avLst>
              <a:gd name="adj" fmla="val 12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5111496"/>
            <a:ext cx="3337560" cy="5943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000" b="1" i="0">
                <a:solidFill>
                  <a:srgbClr val="E8B54A"/>
                </a:solidFill>
                <a:latin typeface="Georgia"/>
              </a:rPr>
              <a:t>28%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5715000"/>
            <a:ext cx="3337560" cy="4572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FAI shifts ≥ 5 pts without crossing a PTA boundary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Clinical implications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Audiologic 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Flag patients straddling severity boundaries for monitoring instead of forcing one label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Hearing aid 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FAI maps to gain; configuration vector guides frequency-specific amplification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6" y="123444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123444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57616" y="1399032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Ototoxicity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6" y="180136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≥ 5-point FAI shifts (cisplatin, aminoglycosides) before PTA crosses a boundary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Noise surveillance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Notch detection flags early noise damage despite a normal PTA (Case 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5968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Low-resource settings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Runs on mobile audiometry (hearWHO, Mimi); interpretable and computationally 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6" y="3703320"/>
            <a:ext cx="3584448" cy="22402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82296" cy="22402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3867911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50" b="1" i="0">
                <a:solidFill>
                  <a:srgbClr val="0B2545"/>
                </a:solidFill>
                <a:latin typeface="Calibri"/>
              </a:rPr>
              <a:t>Research endpoints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270248"/>
            <a:ext cx="3200400" cy="1554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B2A3A"/>
                </a:solidFill>
                <a:latin typeface="Calibri"/>
              </a:rPr>
              <a:t>Continuous outcome for hearing-preservation and rehabilitation trials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960120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1" i="0">
                <a:solidFill>
                  <a:srgbClr val="0B2545"/>
                </a:solidFill>
                <a:latin typeface="Georgia"/>
              </a:rPr>
              <a:t>Limitations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384048"/>
            <a:ext cx="1280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1000" b="0" i="0">
                <a:solidFill>
                  <a:srgbClr val="5A6B7B"/>
                </a:solidFill>
                <a:latin typeface="Calibri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5A6B7B"/>
                </a:solidFill>
                <a:latin typeface="Calibri"/>
              </a:rPr>
              <a:t>ArabCIC 2026 · Jeddah · Fuzzy Audiometric Index (FAI)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0B2545"/>
                </a:solidFill>
                <a:latin typeface="Georgia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Air-conduction thresholds only — bone conduction needed for mixed-loss detection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Rule base expert-derived, not yet through formal Delphi consensus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NHANES skews toward mild–moderate age-related loss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No extended high-frequency audiometry (10–16 kHz)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Reference standard (WHO PTA-4) carries the same boundary issue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Outcome validation pending (hearing aids, CI candidacy)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188720"/>
            <a:ext cx="5486400" cy="5029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1D7874"/>
                </a:solidFill>
                <a:latin typeface="Georgia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5029200" cy="4297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Multi-site validation — paediatric and Menière’s cohorts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Mobile audiometry integration for community screening in low-resource settings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Web-based FAI calculator with REST API for EHR integration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Neuro-fuzzy learning (ANFIS) — learn rule parameters from data while staying interpretable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0" i="0">
                <a:solidFill>
                  <a:srgbClr val="1B2A3A"/>
                </a:solidFill>
                <a:latin typeface="Calibri"/>
              </a:rPr>
              <a:t>•  FAI as a continuous feature for ML outcome models (speech-in-noise, hearing aid outcomes, CI candidacy)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856732"/>
            <a:ext cx="91440" cy="8001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71032"/>
            <a:ext cx="91440" cy="6858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131052"/>
            <a:ext cx="91440" cy="5257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68212"/>
            <a:ext cx="91440" cy="38862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28232"/>
            <a:ext cx="91440" cy="2286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42532"/>
            <a:ext cx="91440" cy="11430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777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400" b="1" i="0">
                <a:solidFill>
                  <a:srgbClr val="E8B54A"/>
                </a:solidFill>
                <a:latin typeface="Calibri"/>
              </a:rPr>
              <a:t>TAKE-HOME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1600200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1600200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600200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A continuous, frequency-resolved Fuzzy Audiometric Index preserves the gradation that crisp PTA thresholds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8720" y="2807208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2807208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07208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κ = 0.93 against WHO PTA-4; 98.4% agreement in clear cases, with deliberate graded reclassification in the borderline zone (84.9%).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014216"/>
            <a:ext cx="9811512" cy="1051560"/>
          </a:xfrm>
          <a:prstGeom prst="roundRect">
            <a:avLst>
              <a:gd name="adj" fmla="val 10000"/>
            </a:avLst>
          </a:prstGeom>
          <a:solidFill>
            <a:srgbClr val="143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63040" y="4014216"/>
            <a:ext cx="91440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2800" b="1" i="0">
                <a:solidFill>
                  <a:srgbClr val="E8B54A"/>
                </a:solidFill>
                <a:latin typeface="Georgia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4014216"/>
            <a:ext cx="8412480" cy="10515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FFFFFF"/>
                </a:solidFill>
                <a:latin typeface="Calibri"/>
              </a:rPr>
              <a:t>Interpretable by design — a rule base clinicians can inspect, question and modify.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811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450" b="0" i="1">
                <a:solidFill>
                  <a:srgbClr val="E8B54A"/>
                </a:solidFill>
                <a:latin typeface="Calibri"/>
              </a:rPr>
              <a:t>“As audiology moves toward personalised, data-driven care, fuzzy logic keeps the continuity of auditory function front and centre.”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913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9443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59755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70067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80379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90691" y="5776722"/>
            <a:ext cx="91440" cy="88011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01003" y="5902452"/>
            <a:ext cx="91440" cy="75438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11315" y="6078474"/>
            <a:ext cx="91440" cy="578358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1627" y="6229350"/>
            <a:ext cx="91440" cy="427482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1939" y="6405372"/>
            <a:ext cx="91440" cy="25146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2251" y="6531102"/>
            <a:ext cx="91440" cy="125730"/>
          </a:xfrm>
          <a:prstGeom prst="rect">
            <a:avLst/>
          </a:prstGeom>
          <a:solidFill>
            <a:srgbClr val="E8B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3913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9443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59755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0067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80379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90691" y="6176772"/>
            <a:ext cx="91440" cy="4800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01003" y="6245352"/>
            <a:ext cx="91440" cy="411479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11315" y="6341364"/>
            <a:ext cx="91440" cy="315468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21627" y="6423660"/>
            <a:ext cx="91440" cy="233172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31939" y="6519672"/>
            <a:ext cx="91440" cy="13716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2251" y="6588252"/>
            <a:ext cx="91440" cy="68580"/>
          </a:xfrm>
          <a:prstGeom prst="rect">
            <a:avLst/>
          </a:prstGeom>
          <a:solidFill>
            <a:srgbClr val="1D7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1737360"/>
            <a:ext cx="10725912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97480"/>
            <a:ext cx="107259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0" i="0">
                <a:solidFill>
                  <a:srgbClr val="BFD0E0"/>
                </a:solidFill>
                <a:latin typeface="Calibri"/>
              </a:rPr>
              <a:t>Questions and 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794760"/>
            <a:ext cx="107259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Dr. Sanyaolu Ameye (MBBS, FWACS, FMCORL, Pg Cert ML/AI, MSc Data Science)</a:t>
            </a:r>
          </a:p>
          <a:p>
            <a:pPr algn="ctr">
              <a:spcAft>
                <a:spcPts val="300"/>
              </a:spcAft>
            </a:pPr>
            <a:r>
              <a:rPr sz="1300" b="0" i="0">
                <a:solidFill>
                  <a:srgbClr val="BFD0E0"/>
                </a:solidFill>
                <a:latin typeface="Calibri"/>
              </a:rPr>
              <a:t>ENT Surgeon and Data Scientist</a:t>
            </a:r>
          </a:p>
          <a:p>
            <a:pPr algn="ctr"/>
            <a:r>
              <a:rPr sz="1300" b="0" i="0">
                <a:solidFill>
                  <a:srgbClr val="BFD0E0"/>
                </a:solidFill>
                <a:latin typeface="Calibri"/>
              </a:rPr>
              <a:t>King Fahad Specialist Hospital, Tabuk, Kingdom of Saudi Arabia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725912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500" b="1" i="0">
                <a:solidFill>
                  <a:srgbClr val="E8B54A"/>
                </a:solidFill>
                <a:latin typeface="Calibri"/>
              </a:rPr>
              <a:t>sanyaameye@hotmail.com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72591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0" i="0">
                <a:solidFill>
                  <a:srgbClr val="9AB0C6"/>
                </a:solidFill>
                <a:latin typeface="Calibri"/>
              </a:rPr>
              <a:t>Code and data: github.com/ameye/fuzzy-audiogram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