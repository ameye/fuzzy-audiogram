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morning. Hearing loss classification has barely changed since Goodman in 1965. This talk presents a fuzzy logic framework that preserves the diagnostic gradation that crisp WHO thresholds discard, validated on NHANES 2017-2020.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patients separated by a single decibel are categorically different under WHO rules, even though a decibel sits inside audiometry's own test-retest error. Nearly four in ten ears in NHANES sit within 5 dB of a boundary. And the PTA throws away frequency-specific detail and configuration entirely.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Fuzzy set theory, introduced by Zadeh, lets a threshold belong to several severity categories at once. The result is a continuous Fuzzy Audiometric Index, a configuration vector, and an asymmetry index — all produced by an interpretable rule base rather than a black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used NHANES 2017-2020, 5,147 adults with complete air-conduction thresholds. An 80/20 stratified split keeps every WHO category in both partitions, and everything is optimised on training and reported on the held-out test set. Comparators are the WHO PTA-4 rules, XGBoost and Random Forest.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frequency band has six overlapping trapezoidal membership functions. The optimised parameters sit a few dB to the right of the classic WHO cutoffs, with 2-3 dB of overlap, so a 27 dB threshold is simultaneously 7% normal and 25% mild.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Forty-eight expert-derived rules in four groups: severity, configuration, asymmetry and mixed-loss patterns. Inference uses Mamdani min-max composition with centroid-of-area defuzzification to produce the continuous FAI.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the adult test set (70-80 y) the FAI shows substantial agreement with the WHO PTA-4 reference (kappa 0.68, Spearman 0.83) and matches the crisp grade on 88.2% of clear cases. 61.4% of adult ears sit within 5 dB of a severity boundary; there the system deliberately returns graded membership (58.7% agreement with the crisp label) rather than forcing a binary choice. The ML comparators regress PTA-4 itself and are reference-in-disguise, not independent benchmarks.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clinical core. At the normal-mild boundary the fuzzy system reports graded membership instead of a forced binary label; it matches the crisp label in clear cases (94.2%) while deliberately deviating from it in the borderline zone (agreement 53–63% within ±1–3 dB).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cases illustrate the clinical value. A borderline patient gets graded membership rather than a forced label. A noise notch is caught despite a normal PTA. Presbycusis keeps its frequency gradient. And asymmetric loss has its impact quantified and folded into the severity estimate.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Configuration typing is an exploratory output: the adult cohort is predominantly steeply and gently sloping, and the fuzzy shape rules emit a six-category membership vector. Asymmetry affects 6.7% of the adult cohort at the 15 dB threshold, and the fuzzy index quantifies it continuously.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120-participant longitudinal sub-cohort the FAI moves continuously, about 1.7 points per year in age-related loss, while PTA grades step once every 4.2 years. 28% of participants showed a change of 5 or more FAI points without crossing any PTA boundary — sub-threshold shifts that include both ototoxicity and recovery after acute noise exposure.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framework has practical routes into care: more honest triage, gain programming for hearing aids, earlier ototoxicity detection, noise surveillance, low-resource mobile screening, and a continuous endpoint for trials.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 limitations: air-conduction only, no Delphi consensus yet, NHANES's mild-to-moderate skew, no extended high frequencies, and outcome validation still pending. Next: multi-site validation, mobile integration, a web calculator, ANFIS, and using the FAI as a feature in outcome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messages: the FAI preserves gradation, it beats crisp and ML comparators precisely where decisions are hardest, and it stays interpretable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you. Happy to take questions on the rule base, the validation, or deployment plans for cochlear implant and hearing aid pathways.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939131" y="6531102"/>
            <a:ext cx="91440" cy="12573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9443" y="6405372"/>
            <a:ext cx="91440" cy="25146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59755" y="6229350"/>
            <a:ext cx="91440" cy="427482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70067" y="6078474"/>
            <a:ext cx="91440" cy="578358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80379" y="5902452"/>
            <a:ext cx="91440" cy="75438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90691" y="5776722"/>
            <a:ext cx="91440" cy="88011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01003" y="5902452"/>
            <a:ext cx="91440" cy="75438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11315" y="6078474"/>
            <a:ext cx="91440" cy="578358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21627" y="6229350"/>
            <a:ext cx="91440" cy="427482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31939" y="6405372"/>
            <a:ext cx="91440" cy="25146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2251" y="6531102"/>
            <a:ext cx="91440" cy="12573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39131" y="6588252"/>
            <a:ext cx="91440" cy="68580"/>
          </a:xfrm>
          <a:prstGeom prst="rect">
            <a:avLst/>
          </a:prstGeom>
          <a:solidFill>
            <a:srgbClr val="1D7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49443" y="6519672"/>
            <a:ext cx="91440" cy="137160"/>
          </a:xfrm>
          <a:prstGeom prst="rect">
            <a:avLst/>
          </a:prstGeom>
          <a:solidFill>
            <a:srgbClr val="1D7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59755" y="6423660"/>
            <a:ext cx="91440" cy="233172"/>
          </a:xfrm>
          <a:prstGeom prst="rect">
            <a:avLst/>
          </a:prstGeom>
          <a:solidFill>
            <a:srgbClr val="1D7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70067" y="6341364"/>
            <a:ext cx="91440" cy="315468"/>
          </a:xfrm>
          <a:prstGeom prst="rect">
            <a:avLst/>
          </a:prstGeom>
          <a:solidFill>
            <a:srgbClr val="1D7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80379" y="6245352"/>
            <a:ext cx="91440" cy="411479"/>
          </a:xfrm>
          <a:prstGeom prst="rect">
            <a:avLst/>
          </a:prstGeom>
          <a:solidFill>
            <a:srgbClr val="1D7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90691" y="6176772"/>
            <a:ext cx="91440" cy="480060"/>
          </a:xfrm>
          <a:prstGeom prst="rect">
            <a:avLst/>
          </a:prstGeom>
          <a:solidFill>
            <a:srgbClr val="1D7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01003" y="6245352"/>
            <a:ext cx="91440" cy="411479"/>
          </a:xfrm>
          <a:prstGeom prst="rect">
            <a:avLst/>
          </a:prstGeom>
          <a:solidFill>
            <a:srgbClr val="1D7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11315" y="6341364"/>
            <a:ext cx="91440" cy="315468"/>
          </a:xfrm>
          <a:prstGeom prst="rect">
            <a:avLst/>
          </a:prstGeom>
          <a:solidFill>
            <a:srgbClr val="1D7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21627" y="6423660"/>
            <a:ext cx="91440" cy="233172"/>
          </a:xfrm>
          <a:prstGeom prst="rect">
            <a:avLst/>
          </a:prstGeom>
          <a:solidFill>
            <a:srgbClr val="1D7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31939" y="6519672"/>
            <a:ext cx="91440" cy="137160"/>
          </a:xfrm>
          <a:prstGeom prst="rect">
            <a:avLst/>
          </a:prstGeom>
          <a:solidFill>
            <a:srgbClr val="1D7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42251" y="6588252"/>
            <a:ext cx="91440" cy="68580"/>
          </a:xfrm>
          <a:prstGeom prst="rect">
            <a:avLst/>
          </a:prstGeom>
          <a:solidFill>
            <a:srgbClr val="1D7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777240"/>
            <a:ext cx="10725912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400" b="1" i="0">
                <a:solidFill>
                  <a:srgbClr val="E8B54A"/>
                </a:solidFill>
                <a:latin typeface="Calibri"/>
              </a:rPr>
              <a:t>4TH ARAB COCHLEAR IMPLANT CONFERENCE  ·  ARABCIC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1170432"/>
            <a:ext cx="10725912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i="0">
                <a:solidFill>
                  <a:srgbClr val="BFD0E0"/>
                </a:solidFill>
                <a:latin typeface="Calibri"/>
              </a:rPr>
              <a:t>Jeddah, Kingdom of Saudi Arabia  ·  26–28 November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1874519"/>
            <a:ext cx="10725912" cy="1600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3300" b="1" i="0">
                <a:solidFill>
                  <a:srgbClr val="FFFFFF"/>
                </a:solidFill>
                <a:latin typeface="Georgia"/>
              </a:rPr>
              <a:t>A Fuzzy Logic Framework for Sensorineural Hearing Loss Classification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310128"/>
            <a:ext cx="10725912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700" b="0" i="1">
                <a:solidFill>
                  <a:srgbClr val="E8B54A"/>
                </a:solidFill>
                <a:latin typeface="Calibri"/>
              </a:rPr>
              <a:t>Preserving diagnostic gradation lost to crisp WHO thresholds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160520"/>
            <a:ext cx="10725912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Dr. Sanyaolu Ameye (MBBS, FWACS, FMCORL, Pg Cert ML/AI, MSc Data Science)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BFD0E0"/>
                </a:solidFill>
                <a:latin typeface="Calibri"/>
              </a:rPr>
              <a:t>ENT Surgeon and Data Scientist</a:t>
            </a:r>
          </a:p>
          <a:p>
            <a:pPr algn="ctr"/>
            <a:r>
              <a:rPr sz="1300" b="0" i="0">
                <a:solidFill>
                  <a:srgbClr val="BFD0E0"/>
                </a:solidFill>
                <a:latin typeface="Calibri"/>
              </a:rPr>
              <a:t>King Fahad Specialist Hospital, Tabuk, Kingdom of Saudi Arabia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011680" y="5303520"/>
            <a:ext cx="2377440" cy="960120"/>
          </a:xfrm>
          <a:prstGeom prst="roundRect">
            <a:avLst>
              <a:gd name="adj" fmla="val 12000"/>
            </a:avLst>
          </a:prstGeom>
          <a:solidFill>
            <a:srgbClr val="143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48840" y="5340096"/>
            <a:ext cx="2103120" cy="49926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400" b="1" i="0">
                <a:solidFill>
                  <a:srgbClr val="E8B54A"/>
                </a:solidFill>
                <a:latin typeface="Georgia"/>
              </a:rPr>
              <a:t>5,147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48840" y="5841187"/>
            <a:ext cx="210312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NHANES 2017–2020 participants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10328" y="5303520"/>
            <a:ext cx="2377440" cy="960120"/>
          </a:xfrm>
          <a:prstGeom prst="roundRect">
            <a:avLst>
              <a:gd name="adj" fmla="val 12000"/>
            </a:avLst>
          </a:prstGeom>
          <a:solidFill>
            <a:srgbClr val="143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47488" y="5340096"/>
            <a:ext cx="2103120" cy="49926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400" b="1" i="0">
                <a:solidFill>
                  <a:srgbClr val="E8B54A"/>
                </a:solidFill>
                <a:latin typeface="Georgia"/>
              </a:rPr>
              <a:t>48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7488" y="5841187"/>
            <a:ext cx="210312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audiology-derived fuzzy rules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08975" y="5303520"/>
            <a:ext cx="2377440" cy="960120"/>
          </a:xfrm>
          <a:prstGeom prst="roundRect">
            <a:avLst>
              <a:gd name="adj" fmla="val 12000"/>
            </a:avLst>
          </a:prstGeom>
          <a:solidFill>
            <a:srgbClr val="143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46136" y="5340096"/>
            <a:ext cx="2103120" cy="49926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400" b="1" i="0">
                <a:solidFill>
                  <a:srgbClr val="E8B54A"/>
                </a:solidFill>
                <a:latin typeface="Georgia"/>
              </a:rPr>
              <a:t>0–100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46136" y="5841187"/>
            <a:ext cx="210312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continuous FAI scale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60120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The problem: crisp thresholds on continuous biology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84048"/>
            <a:ext cx="12801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5A6B7B"/>
                </a:solidFill>
                <a:latin typeface="Calibri"/>
              </a:rPr>
              <a:t>2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5A6B7B"/>
                </a:solidFill>
                <a:latin typeface="Calibri"/>
              </a:rPr>
              <a:t>ArabCIC 2026 · Jeddah · Fuzzy Audiometric Index (FAI)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54864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029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700" b="1" i="0">
                <a:solidFill>
                  <a:srgbClr val="0B2545"/>
                </a:solidFill>
                <a:latin typeface="Georgia"/>
              </a:rPr>
              <a:t>One decibel changes the label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2423160" cy="1417320"/>
          </a:xfrm>
          <a:prstGeom prst="roundRect">
            <a:avLst>
              <a:gd name="adj" fmla="val 8000"/>
            </a:avLst>
          </a:prstGeom>
          <a:solidFill>
            <a:srgbClr val="E4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74519"/>
            <a:ext cx="214884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1D7874"/>
                </a:solidFill>
                <a:latin typeface="Calibri"/>
              </a:rPr>
              <a:t>PATIENT A</a:t>
            </a:r>
          </a:p>
          <a:p>
            <a:pPr algn="l">
              <a:spcBef>
                <a:spcPts val="400"/>
              </a:spcBef>
            </a:pPr>
            <a:r>
              <a:rPr sz="1500" b="1" i="0">
                <a:solidFill>
                  <a:srgbClr val="1B2A3A"/>
                </a:solidFill>
                <a:latin typeface="Calibri"/>
              </a:rPr>
              <a:t>PTA-4 = 25 dB HL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1B2A3A"/>
                </a:solidFill>
                <a:latin typeface="Calibri"/>
              </a:rPr>
              <a:t>Label: Normal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783080"/>
            <a:ext cx="2423160" cy="1417320"/>
          </a:xfrm>
          <a:prstGeom prst="roundRect">
            <a:avLst>
              <a:gd name="adj" fmla="val 8000"/>
            </a:avLst>
          </a:prstGeom>
          <a:solidFill>
            <a:srgbClr val="FB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874519"/>
            <a:ext cx="214884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B88A2E"/>
                </a:solidFill>
                <a:latin typeface="Calibri"/>
              </a:rPr>
              <a:t>PATIENT B</a:t>
            </a:r>
          </a:p>
          <a:p>
            <a:pPr algn="l">
              <a:spcBef>
                <a:spcPts val="400"/>
              </a:spcBef>
            </a:pPr>
            <a:r>
              <a:rPr sz="1500" b="1" i="0">
                <a:solidFill>
                  <a:srgbClr val="1B2A3A"/>
                </a:solidFill>
                <a:latin typeface="Calibri"/>
              </a:rPr>
              <a:t>PTA-4 = 26 dB HL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1B2A3A"/>
                </a:solidFill>
                <a:latin typeface="Calibri"/>
              </a:rPr>
              <a:t>Label: Mild hearing 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502920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B2A3A"/>
                </a:solidFill>
                <a:latin typeface="Calibri"/>
              </a:rPr>
              <a:t>One decibel, well within the test–retest variability of audiometry (±5–10 dB), produces categorically different labels, follow-up and candidacy decisions.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5074920" cy="1920240"/>
          </a:xfrm>
          <a:prstGeom prst="roundRect">
            <a:avLst>
              <a:gd name="adj" fmla="val 7000"/>
            </a:avLst>
          </a:prstGeom>
          <a:solidFill>
            <a:srgbClr val="EF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224528"/>
            <a:ext cx="4754880" cy="1737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0B2545"/>
                </a:solidFill>
                <a:latin typeface="Calibri"/>
              </a:rPr>
              <a:t>What a single PTA number discards</a:t>
            </a:r>
          </a:p>
          <a:p>
            <a:pPr algn="l">
              <a:lnSpc>
                <a:spcPct val="112000"/>
              </a:lnSpc>
              <a:spcBef>
                <a:spcPts val="500"/>
              </a:spcBef>
            </a:pPr>
            <a:r>
              <a:rPr sz="1200" b="0" i="0">
                <a:solidFill>
                  <a:srgbClr val="1B2A3A"/>
                </a:solidFill>
                <a:latin typeface="Calibri"/>
              </a:rPr>
              <a:t>•  A 4 kHz notch and a flat 30 dB loss share one grade, with very different functional profiles</a:t>
            </a:r>
          </a:p>
          <a:p>
            <a:pPr algn="l">
              <a:lnSpc>
                <a:spcPct val="112000"/>
              </a:lnSpc>
              <a:spcBef>
                <a:spcPts val="500"/>
              </a:spcBef>
            </a:pPr>
            <a:r>
              <a:rPr sz="1200" b="0" i="0">
                <a:solidFill>
                  <a:srgbClr val="1B2A3A"/>
                </a:solidFill>
                <a:latin typeface="Calibri"/>
              </a:rPr>
              <a:t>•  Configuration and asymmetry are invisible to a pure-tone average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143000"/>
            <a:ext cx="54406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325880"/>
            <a:ext cx="507492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4400" b="1" i="0">
                <a:solidFill>
                  <a:srgbClr val="0B2545"/>
                </a:solidFill>
                <a:latin typeface="Georgia"/>
              </a:rPr>
              <a:t>39.2%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240280"/>
            <a:ext cx="5074920" cy="960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B2A3A"/>
                </a:solidFill>
                <a:latin typeface="Calibri"/>
              </a:rPr>
              <a:t>of ears fall within ±5 dB of a WHO severity boundary — the zone where crisp labels are most fragile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474720"/>
            <a:ext cx="544068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657600"/>
            <a:ext cx="507492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000" b="1" i="0">
                <a:solidFill>
                  <a:srgbClr val="1D7874"/>
                </a:solidFill>
                <a:latin typeface="Georgia"/>
              </a:rPr>
              <a:t>±5–10 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389120"/>
            <a:ext cx="50749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B2A3A"/>
                </a:solidFill>
                <a:latin typeface="Calibri"/>
              </a:rPr>
              <a:t>test–retest variability of pure-tone audiometry — smaller than the gaps crisp rules insist 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5349240"/>
            <a:ext cx="544068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5A6B7B"/>
                </a:solidFill>
                <a:latin typeface="Calibri"/>
              </a:rPr>
              <a:t>Goodman (1965) → Clark (1981) → WHO World Report on Hearing (2021): the classification has barely changed in fifty years.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60120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The solution: fuzzy sets for graded severity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84048"/>
            <a:ext cx="12801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5A6B7B"/>
                </a:solidFill>
                <a:latin typeface="Calibri"/>
              </a:rPr>
              <a:t>3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5A6B7B"/>
                </a:solidFill>
                <a:latin typeface="Calibri"/>
              </a:rPr>
              <a:t>ArabCIC 2026 · Jeddah · Fuzzy Audiometric Index (FAI)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548640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5486400" cy="50292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188720"/>
            <a:ext cx="530352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CRISP LOGIC —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4983480" cy="3291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400" b="1" i="0">
                <a:solidFill>
                  <a:srgbClr val="C0392B"/>
                </a:solidFill>
                <a:latin typeface="Calibri"/>
              </a:rPr>
              <a:t>✗  </a:t>
            </a:r>
            <a:r>
              <a:rPr sz="1350" b="0" i="0">
                <a:solidFill>
                  <a:srgbClr val="1B2A3A"/>
                </a:solidFill>
                <a:latin typeface="Calibri"/>
              </a:rPr>
              <a:t>Binary membership: a threshold is in one category or not at all</a:t>
            </a:r>
          </a:p>
          <a:p>
            <a:pPr algn="l">
              <a:spcAft>
                <a:spcPts val="1100"/>
              </a:spcAft>
            </a:pPr>
            <a:r>
              <a:rPr sz="1400" b="1" i="0">
                <a:solidFill>
                  <a:srgbClr val="C0392B"/>
                </a:solidFill>
                <a:latin typeface="Calibri"/>
              </a:rPr>
              <a:t>✗  </a:t>
            </a:r>
            <a:r>
              <a:rPr sz="1350" b="0" i="0">
                <a:solidFill>
                  <a:srgbClr val="1B2A3A"/>
                </a:solidFill>
                <a:latin typeface="Calibri"/>
              </a:rPr>
              <a:t>Sharp cutoffs at 25 / 40 / 55 / 70 / 90 dB</a:t>
            </a:r>
          </a:p>
          <a:p>
            <a:pPr algn="l">
              <a:spcAft>
                <a:spcPts val="1100"/>
              </a:spcAft>
            </a:pPr>
            <a:r>
              <a:rPr sz="1400" b="1" i="0">
                <a:solidFill>
                  <a:srgbClr val="C0392B"/>
                </a:solidFill>
                <a:latin typeface="Calibri"/>
              </a:rPr>
              <a:t>✗  </a:t>
            </a:r>
            <a:r>
              <a:rPr sz="1350" b="0" i="0">
                <a:solidFill>
                  <a:srgbClr val="1B2A3A"/>
                </a:solidFill>
                <a:latin typeface="Calibri"/>
              </a:rPr>
              <a:t>No frequency resolution beyond an average</a:t>
            </a:r>
          </a:p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0392B"/>
                </a:solidFill>
                <a:latin typeface="Calibri"/>
              </a:rPr>
              <a:t>✗  </a:t>
            </a:r>
            <a:r>
              <a:rPr sz="1350" b="0" i="0">
                <a:solidFill>
                  <a:srgbClr val="1B2A3A"/>
                </a:solidFill>
                <a:latin typeface="Calibri"/>
              </a:rPr>
              <a:t>No configuration typing or asymmetry scoring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48640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486400" cy="502920"/>
          </a:xfrm>
          <a:prstGeom prst="roundRect">
            <a:avLst>
              <a:gd name="adj" fmla="val 10000"/>
            </a:avLst>
          </a:prstGeom>
          <a:solidFill>
            <a:srgbClr val="1D7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1188720"/>
            <a:ext cx="530352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FUZZY LOGIC — THIS STUDY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74519"/>
            <a:ext cx="4983480" cy="3291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400" b="1" i="0">
                <a:solidFill>
                  <a:srgbClr val="1D7874"/>
                </a:solidFill>
                <a:latin typeface="Calibri"/>
              </a:rPr>
              <a:t>✓  </a:t>
            </a:r>
            <a:r>
              <a:rPr sz="1350" b="0" i="0">
                <a:solidFill>
                  <a:srgbClr val="1B2A3A"/>
                </a:solidFill>
                <a:latin typeface="Calibri"/>
              </a:rPr>
              <a:t>Gradual membership (0 → 1) in every severity category</a:t>
            </a:r>
          </a:p>
          <a:p>
            <a:pPr algn="l">
              <a:spcAft>
                <a:spcPts val="1100"/>
              </a:spcAft>
            </a:pPr>
            <a:r>
              <a:rPr sz="1400" b="1" i="0">
                <a:solidFill>
                  <a:srgbClr val="1D7874"/>
                </a:solidFill>
                <a:latin typeface="Calibri"/>
              </a:rPr>
              <a:t>✓  </a:t>
            </a:r>
            <a:r>
              <a:rPr sz="1350" b="0" i="0">
                <a:solidFill>
                  <a:srgbClr val="1B2A3A"/>
                </a:solidFill>
                <a:latin typeface="Calibri"/>
              </a:rPr>
              <a:t>Overlapping trapezoidal functions at each boundary (2–3 dB overlap)</a:t>
            </a:r>
          </a:p>
          <a:p>
            <a:pPr algn="l">
              <a:spcAft>
                <a:spcPts val="1100"/>
              </a:spcAft>
            </a:pPr>
            <a:r>
              <a:rPr sz="1400" b="1" i="0">
                <a:solidFill>
                  <a:srgbClr val="1D7874"/>
                </a:solidFill>
                <a:latin typeface="Calibri"/>
              </a:rPr>
              <a:t>✓  </a:t>
            </a:r>
            <a:r>
              <a:rPr sz="1350" b="0" i="0">
                <a:solidFill>
                  <a:srgbClr val="1B2A3A"/>
                </a:solidFill>
                <a:latin typeface="Calibri"/>
              </a:rPr>
              <a:t>Continuous FAI score (0–100), frequency-resolved</a:t>
            </a:r>
          </a:p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D7874"/>
                </a:solidFill>
                <a:latin typeface="Calibri"/>
              </a:rPr>
              <a:t>✓  </a:t>
            </a:r>
            <a:r>
              <a:rPr sz="1350" b="0" i="0">
                <a:solidFill>
                  <a:srgbClr val="1B2A3A"/>
                </a:solidFill>
                <a:latin typeface="Calibri"/>
              </a:rPr>
              <a:t>Configuration vector + asymmetry index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486400"/>
            <a:ext cx="11201400" cy="777240"/>
          </a:xfrm>
          <a:prstGeom prst="roundRect">
            <a:avLst>
              <a:gd name="adj" fmla="val 10000"/>
            </a:avLst>
          </a:prstGeom>
          <a:solidFill>
            <a:srgbClr val="1D7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486400"/>
            <a:ext cx="1083564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Calibri"/>
              </a:rPr>
              <a:t>Fuzzy Audiometric Index (FAI): continuous 0–100 · frequency-resolved · interpretable rule base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60120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Methods: data and the Mamdani fuzzy inference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84048"/>
            <a:ext cx="12801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5A6B7B"/>
                </a:solidFill>
                <a:latin typeface="Calibri"/>
              </a:rPr>
              <a:t>4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5A6B7B"/>
                </a:solidFill>
                <a:latin typeface="Calibri"/>
              </a:rPr>
              <a:t>ArabCIC 2026 · Jeddah · Fuzzy Audiometric Index (FAI)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512064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46634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0B2545"/>
                </a:solidFill>
                <a:latin typeface="Georgia"/>
              </a:rPr>
              <a:t>Data: NHANES 2017–2020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4663440" cy="4297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50" b="0" i="0">
                <a:solidFill>
                  <a:srgbClr val="1B2A3A"/>
                </a:solidFill>
                <a:latin typeface="Calibri"/>
              </a:rPr>
              <a:t>•  Adults-only cohort: 1,493 participants aged 70–80 y (NHANES protocol)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50" b="0" i="0">
                <a:solidFill>
                  <a:srgbClr val="1B2A3A"/>
                </a:solidFill>
                <a:latin typeface="Calibri"/>
              </a:rPr>
              <a:t>•  80/20 ear-level split: 1,584 training / 396 held-out test ears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50" b="0" i="0">
                <a:solidFill>
                  <a:srgbClr val="1B2A3A"/>
                </a:solidFill>
                <a:latin typeface="Calibri"/>
              </a:rPr>
              <a:t>•  Membership functions and rule base developed on the training set only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250" b="0" i="0">
                <a:solidFill>
                  <a:srgbClr val="1B2A3A"/>
                </a:solidFill>
                <a:latin typeface="Calibri"/>
              </a:rPr>
              <a:t>•  All metrics reported on the held-out test set</a:t>
            </a:r>
          </a:p>
          <a:p>
            <a:pPr algn="l">
              <a:spcAft>
                <a:spcPts val="500"/>
              </a:spcAft>
            </a:pPr>
            <a:r>
              <a:rPr sz="1350" b="1" i="0">
                <a:solidFill>
                  <a:srgbClr val="1D7874"/>
                </a:solidFill>
                <a:latin typeface="Calibri"/>
              </a:rPr>
              <a:t>Comparators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B2A3A"/>
                </a:solidFill>
                <a:latin typeface="Calibri"/>
              </a:rPr>
              <a:t>•  PTA-4 (WHO) crisp classification</a:t>
            </a:r>
          </a:p>
          <a:p>
            <a:pPr algn="l">
              <a:spcAft>
                <a:spcPts val="1000"/>
              </a:spcAft>
            </a:pPr>
            <a:r>
              <a:rPr sz="1250" b="0" i="0">
                <a:solidFill>
                  <a:srgbClr val="1B2A3A"/>
                </a:solidFill>
                <a:latin typeface="Calibri"/>
              </a:rPr>
              <a:t>•  XGBoost and Random Forest</a:t>
            </a:r>
          </a:p>
          <a:p>
            <a:pPr algn="l">
              <a:lnSpc>
                <a:spcPct val="110000"/>
              </a:lnSpc>
            </a:pPr>
            <a:r>
              <a:rPr sz="1150" b="0" i="1">
                <a:solidFill>
                  <a:srgbClr val="5A6B7B"/>
                </a:solidFill>
                <a:latin typeface="Calibri"/>
              </a:rPr>
              <a:t>Implementation: scikit-fuzzy (v0.5.0), scikit-learn, XGBoost, SciPy</a:t>
            </a:r>
          </a:p>
        </p:txBody>
      </p:sp>
      <p:pic>
        <p:nvPicPr>
          <p:cNvPr id="9" name="Picture 8" descr="fig2_fis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463040"/>
            <a:ext cx="5806440" cy="28760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97880" y="4448776"/>
            <a:ext cx="580644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1">
                <a:solidFill>
                  <a:srgbClr val="5A6B7B"/>
                </a:solidFill>
                <a:latin typeface="Calibri"/>
              </a:rPr>
              <a:t>Mamdani FIS: 7 frequency thresholds → fuzzification → 48 rules → centroid defuzzification → FAI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60120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Fuzzification: trapezoidal membership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84048"/>
            <a:ext cx="12801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5A6B7B"/>
                </a:solidFill>
                <a:latin typeface="Calibri"/>
              </a:rPr>
              <a:t>5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5A6B7B"/>
                </a:solidFill>
                <a:latin typeface="Calibri"/>
              </a:rPr>
              <a:t>ArabCIC 2026 · Jeddah · Fuzzy Audiometric Index (FAI)</a:t>
            </a:r>
          </a:p>
        </p:txBody>
      </p:sp>
      <p:pic>
        <p:nvPicPr>
          <p:cNvPr id="6" name="Picture 5" descr="fig1_membership_fun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5943600" cy="32337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559631"/>
            <a:ext cx="59436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100" b="0" i="1">
                <a:solidFill>
                  <a:srgbClr val="5A6B7B"/>
                </a:solidFill>
                <a:latin typeface="Calibri"/>
              </a:rPr>
              <a:t>Overlapping trapezoids for six severity categories, with NHANES density overlay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846320"/>
            <a:ext cx="5943600" cy="1417320"/>
          </a:xfrm>
          <a:prstGeom prst="roundRect">
            <a:avLst>
              <a:gd name="adj" fmla="val 7000"/>
            </a:avLst>
          </a:prstGeom>
          <a:solidFill>
            <a:srgbClr val="E4F0F0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983480"/>
            <a:ext cx="557784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1" i="0">
                <a:solidFill>
                  <a:srgbClr val="1D7874"/>
                </a:solidFill>
                <a:latin typeface="Calibri"/>
              </a:rPr>
              <a:t>Why trapezoids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150" b="0" i="0">
                <a:solidFill>
                  <a:srgbClr val="1B2A3A"/>
                </a:solidFill>
                <a:latin typeface="Calibri"/>
              </a:rPr>
              <a:t>NHANES severity distributions are asymmetric with plateau cores — poorly captured by triangular or Gaussian shapes.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675120" y="1234440"/>
          <a:ext cx="5038344" cy="2688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8840"/>
                <a:gridCol w="722376"/>
                <a:gridCol w="722376"/>
                <a:gridCol w="722376"/>
                <a:gridCol w="722376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76200" marR="76200" marT="25400" marB="25400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76200" marR="76200" marT="25400" marB="25400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76200" marR="76200" marT="25400" marB="25400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6200" marR="76200" marT="25400" marB="25400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76200" marR="76200" marT="25400" marB="25400" anchor="ctr"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B2A3A"/>
                          </a:solidFill>
                          <a:latin typeface="Calibri"/>
                        </a:rPr>
                        <a:t>Normal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B2A3A"/>
                          </a:solidFill>
                          <a:latin typeface="Calibri"/>
                        </a:rPr>
                        <a:t>0.4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B2A3A"/>
                          </a:solidFill>
                          <a:latin typeface="Calibri"/>
                        </a:rPr>
                        <a:t>5.0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B2A3A"/>
                          </a:solidFill>
                          <a:latin typeface="Calibri"/>
                        </a:rPr>
                        <a:t>14.3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B2A3A"/>
                          </a:solidFill>
                          <a:latin typeface="Calibri"/>
                        </a:rPr>
                        <a:t>26.3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B2A3A"/>
                          </a:solidFill>
                          <a:latin typeface="Calibri"/>
                        </a:rPr>
                        <a:t>Mild</a:t>
                      </a:r>
                    </a:p>
                  </a:txBody>
                  <a:tcPr marL="76200" marR="76200" marT="25400" marB="25400" anchor="ctr">
                    <a:solidFill>
                      <a:srgbClr val="EF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B2A3A"/>
                          </a:solidFill>
                          <a:latin typeface="Calibri"/>
                        </a:rPr>
                        <a:t>28.0</a:t>
                      </a:r>
                    </a:p>
                  </a:txBody>
                  <a:tcPr marL="76200" marR="76200" marT="25400" marB="25400" anchor="ctr">
                    <a:solidFill>
                      <a:srgbClr val="EF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B2A3A"/>
                          </a:solidFill>
                          <a:latin typeface="Calibri"/>
                        </a:rPr>
                        <a:t>30.0</a:t>
                      </a:r>
                    </a:p>
                  </a:txBody>
                  <a:tcPr marL="76200" marR="76200" marT="25400" marB="25400" anchor="ctr">
                    <a:solidFill>
                      <a:srgbClr val="EF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B2A3A"/>
                          </a:solidFill>
                          <a:latin typeface="Calibri"/>
                        </a:rPr>
                        <a:t>39.3</a:t>
                      </a:r>
                    </a:p>
                  </a:txBody>
                  <a:tcPr marL="76200" marR="76200" marT="25400" marB="25400" anchor="ctr">
                    <a:solidFill>
                      <a:srgbClr val="EF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B2A3A"/>
                          </a:solidFill>
                          <a:latin typeface="Calibri"/>
                        </a:rPr>
                        <a:t>42.0</a:t>
                      </a:r>
                    </a:p>
                  </a:txBody>
                  <a:tcPr marL="76200" marR="76200" marT="25400" marB="25400" anchor="ctr">
                    <a:solidFill>
                      <a:srgbClr val="EFF4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B2A3A"/>
                          </a:solidFill>
                          <a:latin typeface="Calibri"/>
                        </a:rPr>
                        <a:t>Moderate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B2A3A"/>
                          </a:solidFill>
                          <a:latin typeface="Calibri"/>
                        </a:rPr>
                        <a:t>43.0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B2A3A"/>
                          </a:solidFill>
                          <a:latin typeface="Calibri"/>
                        </a:rPr>
                        <a:t>45.0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B2A3A"/>
                          </a:solidFill>
                          <a:latin typeface="Calibri"/>
                        </a:rPr>
                        <a:t>53.6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B2A3A"/>
                          </a:solidFill>
                          <a:latin typeface="Calibri"/>
                        </a:rPr>
                        <a:t>57.0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B2A3A"/>
                          </a:solidFill>
                          <a:latin typeface="Calibri"/>
                        </a:rPr>
                        <a:t>Moderately Severe</a:t>
                      </a:r>
                    </a:p>
                  </a:txBody>
                  <a:tcPr marL="76200" marR="76200" marT="25400" marB="25400" anchor="ctr">
                    <a:solidFill>
                      <a:srgbClr val="EF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B2A3A"/>
                          </a:solidFill>
                          <a:latin typeface="Calibri"/>
                        </a:rPr>
                        <a:t>58.0</a:t>
                      </a:r>
                    </a:p>
                  </a:txBody>
                  <a:tcPr marL="76200" marR="76200" marT="25400" marB="25400" anchor="ctr">
                    <a:solidFill>
                      <a:srgbClr val="EF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B2A3A"/>
                          </a:solidFill>
                          <a:latin typeface="Calibri"/>
                        </a:rPr>
                        <a:t>60.0</a:t>
                      </a:r>
                    </a:p>
                  </a:txBody>
                  <a:tcPr marL="76200" marR="76200" marT="25400" marB="25400" anchor="ctr">
                    <a:solidFill>
                      <a:srgbClr val="EF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B2A3A"/>
                          </a:solidFill>
                          <a:latin typeface="Calibri"/>
                        </a:rPr>
                        <a:t>67.9</a:t>
                      </a:r>
                    </a:p>
                  </a:txBody>
                  <a:tcPr marL="76200" marR="76200" marT="25400" marB="25400" anchor="ctr">
                    <a:solidFill>
                      <a:srgbClr val="EF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B2A3A"/>
                          </a:solidFill>
                          <a:latin typeface="Calibri"/>
                        </a:rPr>
                        <a:t>72.0</a:t>
                      </a:r>
                    </a:p>
                  </a:txBody>
                  <a:tcPr marL="76200" marR="76200" marT="25400" marB="25400" anchor="ctr">
                    <a:solidFill>
                      <a:srgbClr val="EFF4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B2A3A"/>
                          </a:solidFill>
                          <a:latin typeface="Calibri"/>
                        </a:rPr>
                        <a:t>Severe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B2A3A"/>
                          </a:solidFill>
                          <a:latin typeface="Calibri"/>
                        </a:rPr>
                        <a:t>73.0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B2A3A"/>
                          </a:solidFill>
                          <a:latin typeface="Calibri"/>
                        </a:rPr>
                        <a:t>75.0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B2A3A"/>
                          </a:solidFill>
                          <a:latin typeface="Calibri"/>
                        </a:rPr>
                        <a:t>85.4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B2A3A"/>
                          </a:solidFill>
                          <a:latin typeface="Calibri"/>
                        </a:rPr>
                        <a:t>92.0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B2A3A"/>
                          </a:solidFill>
                          <a:latin typeface="Calibri"/>
                        </a:rPr>
                        <a:t>Profound</a:t>
                      </a:r>
                    </a:p>
                  </a:txBody>
                  <a:tcPr marL="76200" marR="76200" marT="25400" marB="25400" anchor="ctr">
                    <a:solidFill>
                      <a:srgbClr val="EF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B2A3A"/>
                          </a:solidFill>
                          <a:latin typeface="Calibri"/>
                        </a:rPr>
                        <a:t>91.9</a:t>
                      </a:r>
                    </a:p>
                  </a:txBody>
                  <a:tcPr marL="76200" marR="76200" marT="25400" marB="25400" anchor="ctr">
                    <a:solidFill>
                      <a:srgbClr val="EF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B2A3A"/>
                          </a:solidFill>
                          <a:latin typeface="Calibri"/>
                        </a:rPr>
                        <a:t>94.4</a:t>
                      </a:r>
                    </a:p>
                  </a:txBody>
                  <a:tcPr marL="76200" marR="76200" marT="25400" marB="25400" anchor="ctr">
                    <a:solidFill>
                      <a:srgbClr val="EF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B2A3A"/>
                          </a:solidFill>
                          <a:latin typeface="Calibri"/>
                        </a:rPr>
                        <a:t>103.5</a:t>
                      </a:r>
                    </a:p>
                  </a:txBody>
                  <a:tcPr marL="76200" marR="76200" marT="25400" marB="25400" anchor="ctr">
                    <a:solidFill>
                      <a:srgbClr val="EF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B2A3A"/>
                          </a:solidFill>
                          <a:latin typeface="Calibri"/>
                        </a:rPr>
                        <a:t>120.0</a:t>
                      </a:r>
                    </a:p>
                  </a:txBody>
                  <a:tcPr marL="76200" marR="76200" marT="25400" marB="25400" anchor="ctr">
                    <a:solidFill>
                      <a:srgbClr val="EFF4F8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675120" y="4114800"/>
            <a:ext cx="5029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1">
                <a:solidFill>
                  <a:srgbClr val="5A6B7B"/>
                </a:solidFill>
                <a:latin typeface="Calibri"/>
              </a:rPr>
              <a:t>Optimised on the NHANES training distribution [a, b, c, d]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4526280"/>
            <a:ext cx="502920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4663440"/>
            <a:ext cx="466344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0" i="0">
                <a:solidFill>
                  <a:srgbClr val="1B2A3A"/>
                </a:solidFill>
                <a:latin typeface="Calibri"/>
              </a:rPr>
              <a:t>2–3 dB overlap at each classic WHO boundary → smooth transitions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B2A3A"/>
                </a:solidFill>
                <a:latin typeface="Calibri"/>
              </a:rPr>
              <a:t>27 dB HL → </a:t>
            </a:r>
            <a:r>
              <a:rPr sz="1200" b="1" i="0">
                <a:solidFill>
                  <a:srgbClr val="1D7874"/>
                </a:solidFill>
                <a:latin typeface="Calibri"/>
              </a:rPr>
              <a:t>Normal μ 0.07</a:t>
            </a:r>
            <a:r>
              <a:rPr sz="1200" b="0" i="0">
                <a:solidFill>
                  <a:srgbClr val="1B2A3A"/>
                </a:solidFill>
                <a:latin typeface="Calibri"/>
              </a:rPr>
              <a:t> and </a:t>
            </a:r>
            <a:r>
              <a:rPr sz="1200" b="1" i="0">
                <a:solidFill>
                  <a:srgbClr val="1D7874"/>
                </a:solidFill>
                <a:latin typeface="Calibri"/>
              </a:rPr>
              <a:t>Mild μ 0.25</a:t>
            </a:r>
            <a:r>
              <a:rPr sz="1200" b="0" i="0">
                <a:solidFill>
                  <a:srgbClr val="1B2A3A"/>
                </a:solidFill>
                <a:latin typeface="Calibri"/>
              </a:rPr>
              <a:t>: borderline, not binary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60120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Rule base: 48 audiology-derived rules in four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84048"/>
            <a:ext cx="12801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5A6B7B"/>
                </a:solidFill>
                <a:latin typeface="Calibri"/>
              </a:rPr>
              <a:t>6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5A6B7B"/>
                </a:solidFill>
                <a:latin typeface="Calibri"/>
              </a:rPr>
              <a:t>ArabCIC 2026 · Jeddah · Fuzzy Audiometric Index (FAI)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54406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99032"/>
            <a:ext cx="49834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0B2545"/>
                </a:solidFill>
                <a:latin typeface="Calibri"/>
              </a:rPr>
              <a:t>SEVERITY · 12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498348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B2A3A"/>
                </a:solidFill>
                <a:latin typeface="Calibri"/>
              </a:rPr>
              <a:t>Map thresholds to severity output; blended rules handle transitional zones.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32888"/>
            <a:ext cx="498348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5A6B7B"/>
                </a:solidFill>
                <a:latin typeface="Calibri"/>
              </a:rPr>
              <a:t>IF threshold is Mild AND slope is Flat
THEN severity is Mild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34440"/>
            <a:ext cx="54406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99032"/>
            <a:ext cx="49834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1D7874"/>
                </a:solidFill>
                <a:latin typeface="Calibri"/>
              </a:rPr>
              <a:t>CONFIGURATION · 14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783080"/>
            <a:ext cx="498348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B2A3A"/>
                </a:solidFill>
                <a:latin typeface="Calibri"/>
              </a:rPr>
              <a:t>Combine slope and notch to type the audiogram shape.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532888"/>
            <a:ext cx="498348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5A6B7B"/>
                </a:solidFill>
                <a:latin typeface="Calibri"/>
              </a:rPr>
              <a:t>IF slope is Steeply Sloping AND notch is Deep
THEN configuration is Notched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520440"/>
            <a:ext cx="54406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685032"/>
            <a:ext cx="49834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0B2545"/>
                </a:solidFill>
                <a:latin typeface="Calibri"/>
              </a:rPr>
              <a:t>ASYMMETRY · 12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069080"/>
            <a:ext cx="498348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B2A3A"/>
                </a:solidFill>
                <a:latin typeface="Calibri"/>
              </a:rPr>
              <a:t>Score inter-aural differences and adjust severity.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18888"/>
            <a:ext cx="498348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5A6B7B"/>
                </a:solidFill>
                <a:latin typeface="Calibri"/>
              </a:rPr>
              <a:t>IF inter-aural difference &gt; 30 dB at 3+ frequencies
THEN asymmetry is Severely Asymmetric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520440"/>
            <a:ext cx="54406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685032"/>
            <a:ext cx="49834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1D7874"/>
                </a:solidFill>
                <a:latin typeface="Calibri"/>
              </a:rPr>
              <a:t>MIXED-LOSS · 10 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069080"/>
            <a:ext cx="498348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B2A3A"/>
                </a:solidFill>
                <a:latin typeface="Calibri"/>
              </a:rPr>
              <a:t>Handle complex presentations combining all dimensions.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818888"/>
            <a:ext cx="498348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5A6B7B"/>
                </a:solidFill>
                <a:latin typeface="Calibri"/>
              </a:rPr>
              <a:t>IF asymmetric AND notched
THEN flag mixed aetiology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806440"/>
            <a:ext cx="11201400" cy="59436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806440"/>
            <a:ext cx="10835640" cy="5943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Mamdani min–max composition · centroid-of-area defuzzification · FAI 0–100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60120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Results: FAI vs WHO PTA-4 and ML comparators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84048"/>
            <a:ext cx="12801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5A6B7B"/>
                </a:solidFill>
                <a:latin typeface="Calibri"/>
              </a:rPr>
              <a:t>7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5A6B7B"/>
                </a:solidFill>
                <a:latin typeface="Calibri"/>
              </a:rPr>
              <a:t>ArabCIC 2026 · Jeddah · Fuzzy Audiometric Index (FAI)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694944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1554480"/>
                <a:gridCol w="1554480"/>
                <a:gridCol w="15544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76200" marR="76200" marT="25400" marB="25400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Weighted κ</a:t>
                      </a:r>
                    </a:p>
                  </a:txBody>
                  <a:tcPr marL="76200" marR="76200" marT="25400" marB="25400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Borderline (±5 dB)</a:t>
                      </a:r>
                    </a:p>
                  </a:txBody>
                  <a:tcPr marL="76200" marR="76200" marT="25400" marB="25400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Clear-case</a:t>
                      </a:r>
                    </a:p>
                  </a:txBody>
                  <a:tcPr marL="76200" marR="76200" marT="25400" marB="25400" anchor="ctr"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2A3A"/>
                          </a:solidFill>
                          <a:latin typeface="Calibri"/>
                        </a:rPr>
                        <a:t>FAI (fuzzy)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A3A"/>
                          </a:solidFill>
                          <a:latin typeface="Calibri"/>
                        </a:rPr>
                        <a:t>0.68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A3A"/>
                          </a:solidFill>
                          <a:latin typeface="Calibri"/>
                        </a:rPr>
                        <a:t>58.7%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A3A"/>
                          </a:solidFill>
                          <a:latin typeface="Calibri"/>
                        </a:rPr>
                        <a:t>88.2%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2A3A"/>
                          </a:solidFill>
                          <a:latin typeface="Calibri"/>
                        </a:rPr>
                        <a:t>PTA-4 (WHO)</a:t>
                      </a:r>
                    </a:p>
                  </a:txBody>
                  <a:tcPr marL="76200" marR="76200" marT="25400" marB="25400" anchor="ctr">
                    <a:solidFill>
                      <a:srgbClr val="FB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A3A"/>
                          </a:solidFill>
                          <a:latin typeface="Calibri"/>
                        </a:rPr>
                        <a:t>1.00*</a:t>
                      </a:r>
                    </a:p>
                  </a:txBody>
                  <a:tcPr marL="76200" marR="76200" marT="25400" marB="25400" anchor="ctr">
                    <a:solidFill>
                      <a:srgbClr val="FB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A3A"/>
                          </a:solidFill>
                          <a:latin typeface="Calibri"/>
                        </a:rPr>
                        <a:t>100%*</a:t>
                      </a:r>
                    </a:p>
                  </a:txBody>
                  <a:tcPr marL="76200" marR="76200" marT="25400" marB="25400" anchor="ctr">
                    <a:solidFill>
                      <a:srgbClr val="FB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A3A"/>
                          </a:solidFill>
                          <a:latin typeface="Calibri"/>
                        </a:rPr>
                        <a:t>100%*</a:t>
                      </a:r>
                    </a:p>
                  </a:txBody>
                  <a:tcPr marL="76200" marR="76200" marT="25400" marB="25400" anchor="ctr">
                    <a:solidFill>
                      <a:srgbClr val="FBF3E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2A3A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A3A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A3A"/>
                          </a:solidFill>
                          <a:latin typeface="Calibri"/>
                        </a:rPr>
                        <a:t>79.1%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A3A"/>
                          </a:solidFill>
                          <a:latin typeface="Calibri"/>
                        </a:rPr>
                        <a:t>92.2%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2A3A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 marL="76200" marR="76200" marT="25400" marB="25400" anchor="ctr">
                    <a:solidFill>
                      <a:srgbClr val="EF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A3A"/>
                          </a:solidFill>
                          <a:latin typeface="Calibri"/>
                        </a:rPr>
                        <a:t>0.83</a:t>
                      </a:r>
                    </a:p>
                  </a:txBody>
                  <a:tcPr marL="76200" marR="76200" marT="25400" marB="25400" anchor="ctr">
                    <a:solidFill>
                      <a:srgbClr val="EF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A3A"/>
                          </a:solidFill>
                          <a:latin typeface="Calibri"/>
                        </a:rPr>
                        <a:t>76.3%</a:t>
                      </a:r>
                    </a:p>
                  </a:txBody>
                  <a:tcPr marL="76200" marR="76200" marT="25400" marB="25400" anchor="ctr">
                    <a:solidFill>
                      <a:srgbClr val="EF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A3A"/>
                          </a:solidFill>
                          <a:latin typeface="Calibri"/>
                        </a:rPr>
                        <a:t>90.4%</a:t>
                      </a:r>
                    </a:p>
                  </a:txBody>
                  <a:tcPr marL="76200" marR="76200" marT="25400" marB="25400" anchor="ctr">
                    <a:solidFill>
                      <a:srgbClr val="EFF4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520440"/>
            <a:ext cx="69494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1">
                <a:solidFill>
                  <a:srgbClr val="5A6B7B"/>
                </a:solidFill>
                <a:latin typeface="Calibri"/>
              </a:rPr>
              <a:t>*PTA-4 is the reference standard; borderline accuracy reflects discrepancy within ±5 dB of thresholds.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931920"/>
            <a:ext cx="6949440" cy="1234440"/>
          </a:xfrm>
          <a:prstGeom prst="roundRect">
            <a:avLst>
              <a:gd name="adj" fmla="val 7000"/>
            </a:avLst>
          </a:prstGeom>
          <a:solidFill>
            <a:srgbClr val="E4F0F0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069080"/>
            <a:ext cx="658368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B2A3A"/>
                </a:solidFill>
                <a:latin typeface="Calibri"/>
              </a:rPr>
              <a:t>In borderline cases (±5 dB), the fuzzy system deliberately reclassifies (56.3% agree with the crisp grade) while matching it in clear cases (94.2%).</a:t>
            </a:r>
          </a:p>
        </p:txBody>
      </p:sp>
      <p:pic>
        <p:nvPicPr>
          <p:cNvPr id="10" name="Picture 9" descr="fig3_bland_alt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234440"/>
            <a:ext cx="3977639" cy="296680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26679" y="4274395"/>
            <a:ext cx="3977639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000" b="0" i="1">
                <a:solidFill>
                  <a:srgbClr val="5A6B7B"/>
                </a:solidFill>
                <a:latin typeface="Calibri"/>
              </a:rPr>
              <a:t>Bland–Altman: FAI vs PTA-4 reference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4617720"/>
            <a:ext cx="3977639" cy="86868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4654296"/>
            <a:ext cx="3703320" cy="451713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000" b="1" i="0">
                <a:solidFill>
                  <a:srgbClr val="E8B54A"/>
                </a:solidFill>
                <a:latin typeface="Georgia"/>
              </a:rPr>
              <a:t>κ = 0.68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5104180"/>
            <a:ext cx="370332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vs WHO PTA-4 reference, adult test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5577840"/>
            <a:ext cx="3977639" cy="777240"/>
          </a:xfrm>
          <a:prstGeom prst="roundRect">
            <a:avLst>
              <a:gd name="adj" fmla="val 12000"/>
            </a:avLst>
          </a:prstGeom>
          <a:solidFill>
            <a:srgbClr val="143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5614416"/>
            <a:ext cx="3703320" cy="4041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ρ = 0.83 · MAE 10.5 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6013094"/>
            <a:ext cx="370332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FAI vs PTA-4, adult test (n = 396)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60120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The 25/26 dB boundary: graded, not binary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84048"/>
            <a:ext cx="12801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5A6B7B"/>
                </a:solidFill>
                <a:latin typeface="Calibri"/>
              </a:rPr>
              <a:t>8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5A6B7B"/>
                </a:solidFill>
                <a:latin typeface="Calibri"/>
              </a:rPr>
              <a:t>ArabCIC 2026 · Jeddah · Fuzzy Audiometric Index (FAI)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5852160" cy="2103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0120"/>
                <a:gridCol w="960120"/>
                <a:gridCol w="960120"/>
                <a:gridCol w="777240"/>
                <a:gridCol w="1097280"/>
                <a:gridCol w="109728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PTA-4</a:t>
                      </a:r>
                    </a:p>
                  </a:txBody>
                  <a:tcPr marL="76200" marR="76200" marT="25400" marB="25400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Crisp label</a:t>
                      </a:r>
                    </a:p>
                  </a:txBody>
                  <a:tcPr marL="76200" marR="76200" marT="25400" marB="25400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Fuzzy label</a:t>
                      </a:r>
                    </a:p>
                  </a:txBody>
                  <a:tcPr marL="76200" marR="76200" marT="25400" marB="25400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FAI</a:t>
                      </a:r>
                    </a:p>
                  </a:txBody>
                  <a:tcPr marL="76200" marR="76200" marT="25400" marB="25400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Normal μ</a:t>
                      </a:r>
                    </a:p>
                  </a:txBody>
                  <a:tcPr marL="76200" marR="76200" marT="25400" marB="25400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Mild μ</a:t>
                      </a:r>
                    </a:p>
                  </a:txBody>
                  <a:tcPr marL="76200" marR="76200" marT="25400" marB="25400" anchor="ctr">
                    <a:solidFill>
                      <a:srgbClr val="0B2545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A3A"/>
                          </a:solidFill>
                          <a:latin typeface="Calibri"/>
                        </a:rPr>
                        <a:t>24 dB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A3A"/>
                          </a:solidFill>
                          <a:latin typeface="Calibri"/>
                        </a:rPr>
                        <a:t>Normal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A3A"/>
                          </a:solidFill>
                          <a:latin typeface="Calibri"/>
                        </a:rPr>
                        <a:t>Normal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A3A"/>
                          </a:solidFill>
                          <a:latin typeface="Calibri"/>
                        </a:rPr>
                        <a:t>19.0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A3A"/>
                          </a:solidFill>
                          <a:latin typeface="Calibri"/>
                        </a:rPr>
                        <a:t>0.60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A3A"/>
                          </a:solidFill>
                          <a:latin typeface="Calibri"/>
                        </a:rPr>
                        <a:t>0.67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A3A"/>
                          </a:solidFill>
                          <a:latin typeface="Calibri"/>
                        </a:rPr>
                        <a:t>25 dB</a:t>
                      </a:r>
                    </a:p>
                  </a:txBody>
                  <a:tcPr marL="76200" marR="76200" marT="25400" marB="25400" anchor="ctr">
                    <a:solidFill>
                      <a:srgbClr val="EF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A3A"/>
                          </a:solidFill>
                          <a:latin typeface="Calibri"/>
                        </a:rPr>
                        <a:t>Normal</a:t>
                      </a:r>
                    </a:p>
                  </a:txBody>
                  <a:tcPr marL="76200" marR="76200" marT="25400" marB="25400" anchor="ctr">
                    <a:solidFill>
                      <a:srgbClr val="EF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A3A"/>
                          </a:solidFill>
                          <a:latin typeface="Calibri"/>
                        </a:rPr>
                        <a:t>Mild</a:t>
                      </a:r>
                    </a:p>
                  </a:txBody>
                  <a:tcPr marL="76200" marR="76200" marT="25400" marB="25400" anchor="ctr">
                    <a:solidFill>
                      <a:srgbClr val="EF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A3A"/>
                          </a:solidFill>
                          <a:latin typeface="Calibri"/>
                        </a:rPr>
                        <a:t>23.1</a:t>
                      </a:r>
                    </a:p>
                  </a:txBody>
                  <a:tcPr marL="76200" marR="76200" marT="25400" marB="25400" anchor="ctr">
                    <a:solidFill>
                      <a:srgbClr val="EF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A3A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 marL="76200" marR="76200" marT="25400" marB="25400" anchor="ctr">
                    <a:solidFill>
                      <a:srgbClr val="EF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A3A"/>
                          </a:solidFill>
                          <a:latin typeface="Calibri"/>
                        </a:rPr>
                        <a:t>0.83</a:t>
                      </a:r>
                    </a:p>
                  </a:txBody>
                  <a:tcPr marL="76200" marR="76200" marT="25400" marB="25400" anchor="ctr">
                    <a:solidFill>
                      <a:srgbClr val="EFF4F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A3A"/>
                          </a:solidFill>
                          <a:latin typeface="Calibri"/>
                        </a:rPr>
                        <a:t>26 dB</a:t>
                      </a:r>
                    </a:p>
                  </a:txBody>
                  <a:tcPr marL="76200" marR="76200" marT="25400" marB="25400" anchor="ctr">
                    <a:solidFill>
                      <a:srgbClr val="FB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A3A"/>
                          </a:solidFill>
                          <a:latin typeface="Calibri"/>
                        </a:rPr>
                        <a:t>Mild</a:t>
                      </a:r>
                    </a:p>
                  </a:txBody>
                  <a:tcPr marL="76200" marR="76200" marT="25400" marB="25400" anchor="ctr">
                    <a:solidFill>
                      <a:srgbClr val="FB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A3A"/>
                          </a:solidFill>
                          <a:latin typeface="Calibri"/>
                        </a:rPr>
                        <a:t>Mild</a:t>
                      </a:r>
                    </a:p>
                  </a:txBody>
                  <a:tcPr marL="76200" marR="76200" marT="25400" marB="25400" anchor="ctr">
                    <a:solidFill>
                      <a:srgbClr val="FB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A3A"/>
                          </a:solidFill>
                          <a:latin typeface="Calibri"/>
                        </a:rPr>
                        <a:t>24.6</a:t>
                      </a:r>
                    </a:p>
                  </a:txBody>
                  <a:tcPr marL="76200" marR="76200" marT="25400" marB="25400" anchor="ctr">
                    <a:solidFill>
                      <a:srgbClr val="FB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A3A"/>
                          </a:solidFill>
                          <a:latin typeface="Calibri"/>
                        </a:rPr>
                        <a:t>0.40</a:t>
                      </a:r>
                    </a:p>
                  </a:txBody>
                  <a:tcPr marL="76200" marR="76200" marT="25400" marB="25400" anchor="ctr">
                    <a:solidFill>
                      <a:srgbClr val="FB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A3A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76200" marR="76200" marT="25400" marB="25400" anchor="ctr">
                    <a:solidFill>
                      <a:srgbClr val="FBF3E0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2A3A"/>
                          </a:solidFill>
                          <a:latin typeface="Calibri"/>
                        </a:rPr>
                        <a:t>30 dB</a:t>
                      </a:r>
                    </a:p>
                  </a:txBody>
                  <a:tcPr marL="76200" marR="76200" marT="25400" marB="25400" anchor="ctr">
                    <a:solidFill>
                      <a:srgbClr val="EF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A3A"/>
                          </a:solidFill>
                          <a:latin typeface="Calibri"/>
                        </a:rPr>
                        <a:t>Mild</a:t>
                      </a:r>
                    </a:p>
                  </a:txBody>
                  <a:tcPr marL="76200" marR="76200" marT="25400" marB="25400" anchor="ctr">
                    <a:solidFill>
                      <a:srgbClr val="EF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A3A"/>
                          </a:solidFill>
                          <a:latin typeface="Calibri"/>
                        </a:rPr>
                        <a:t>Mild</a:t>
                      </a:r>
                    </a:p>
                  </a:txBody>
                  <a:tcPr marL="76200" marR="76200" marT="25400" marB="25400" anchor="ctr">
                    <a:solidFill>
                      <a:srgbClr val="EF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A3A"/>
                          </a:solidFill>
                          <a:latin typeface="Calibri"/>
                        </a:rPr>
                        <a:t>30.0</a:t>
                      </a:r>
                    </a:p>
                  </a:txBody>
                  <a:tcPr marL="76200" marR="76200" marT="25400" marB="25400" anchor="ctr">
                    <a:solidFill>
                      <a:srgbClr val="EF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A3A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76200" marR="76200" marT="25400" marB="25400" anchor="ctr">
                    <a:solidFill>
                      <a:srgbClr val="EF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A3A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76200" marR="76200" marT="25400" marB="25400" anchor="ctr">
                    <a:solidFill>
                      <a:srgbClr val="EFF4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4206240"/>
            <a:ext cx="58521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343400"/>
            <a:ext cx="5486400" cy="1645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1B2A3A"/>
                </a:solidFill>
                <a:latin typeface="Calibri"/>
              </a:rPr>
              <a:t>A patient with PTA 24 dB is simultaneously 60% normal and 67% mild — the crisp label hides this ambiguity.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B2A3A"/>
                </a:solidFill>
                <a:latin typeface="Calibri"/>
              </a:rPr>
              <a:t>FAI rises smoothly from 19.0 to 30.0; crisp rules impose a step at 26 dB.</a:t>
            </a:r>
          </a:p>
        </p:txBody>
      </p:sp>
      <p:pic>
        <p:nvPicPr>
          <p:cNvPr id="9" name="Picture 8" descr="fig5_borderline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234440"/>
            <a:ext cx="5074920" cy="32559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29400" y="4563544"/>
            <a:ext cx="507492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1">
                <a:solidFill>
                  <a:srgbClr val="5A6B7B"/>
                </a:solidFill>
                <a:latin typeface="Calibri"/>
              </a:rPr>
              <a:t>The fuzzy system deviates from crisp labels in the borderline zone (agreement 47–59% within ±1–5 dB) while matching crisp in clear cases (88.2%)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60120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Clinical case studies from NHANES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84048"/>
            <a:ext cx="12801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5A6B7B"/>
                </a:solidFill>
                <a:latin typeface="Calibri"/>
              </a:rPr>
              <a:t>9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5A6B7B"/>
                </a:solidFill>
                <a:latin typeface="Calibri"/>
              </a:rPr>
              <a:t>ArabCIC 2026 · Jeddah · Fuzzy Audiometric Index (FAI)</a:t>
            </a:r>
          </a:p>
        </p:txBody>
      </p:sp>
      <p:pic>
        <p:nvPicPr>
          <p:cNvPr id="6" name="Picture 5" descr="fig4_clinical_c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5532120" cy="48402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083857"/>
            <a:ext cx="55321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950" b="0" i="1">
                <a:solidFill>
                  <a:srgbClr val="5A6B7B"/>
                </a:solidFill>
                <a:latin typeface="Calibri"/>
              </a:rPr>
              <a:t>Four representative audiograms with membership bar charts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188720"/>
            <a:ext cx="53492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280160"/>
            <a:ext cx="4983480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1D7874"/>
                </a:solidFill>
                <a:latin typeface="Calibri"/>
              </a:rPr>
              <a:t>A · BORDERLINE</a:t>
            </a:r>
          </a:p>
          <a:p>
            <a:pPr algn="l">
              <a:spcBef>
                <a:spcPts val="300"/>
              </a:spcBef>
            </a:pPr>
            <a:r>
              <a:rPr sz="1200" b="1" i="0">
                <a:solidFill>
                  <a:srgbClr val="1B2A3A"/>
                </a:solidFill>
                <a:latin typeface="Calibri"/>
              </a:rPr>
              <a:t>PTA 27.5 dB “Mild” · FAI 26.3</a:t>
            </a:r>
          </a:p>
          <a:p>
            <a:pPr algn="l">
              <a:lnSpc>
                <a:spcPct val="110000"/>
              </a:lnSpc>
              <a:spcBef>
                <a:spcPts val="300"/>
              </a:spcBef>
            </a:pPr>
            <a:r>
              <a:rPr sz="1050" b="0" i="0">
                <a:solidFill>
                  <a:srgbClr val="5A6B7B"/>
                </a:solidFill>
                <a:latin typeface="Calibri"/>
              </a:rPr>
              <a:t>Normal μ 0.25, Mild μ 1.00 — graded, not forced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834640"/>
            <a:ext cx="53492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926080"/>
            <a:ext cx="4983480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1D7874"/>
                </a:solidFill>
                <a:latin typeface="Calibri"/>
              </a:rPr>
              <a:t>B · MASKED NOTCH</a:t>
            </a:r>
          </a:p>
          <a:p>
            <a:pPr algn="l">
              <a:spcBef>
                <a:spcPts val="300"/>
              </a:spcBef>
            </a:pPr>
            <a:r>
              <a:rPr sz="1200" b="1" i="0">
                <a:solidFill>
                  <a:srgbClr val="1B2A3A"/>
                </a:solidFill>
                <a:latin typeface="Calibri"/>
              </a:rPr>
              <a:t>PTA 23 dB “Normal”</a:t>
            </a:r>
          </a:p>
          <a:p>
            <a:pPr algn="l">
              <a:lnSpc>
                <a:spcPct val="110000"/>
              </a:lnSpc>
              <a:spcBef>
                <a:spcPts val="300"/>
              </a:spcBef>
            </a:pPr>
            <a:r>
              <a:rPr sz="1050" b="0" i="0">
                <a:solidFill>
                  <a:srgbClr val="5A6B7B"/>
                </a:solidFill>
                <a:latin typeface="Calibri"/>
              </a:rPr>
              <a:t>25 dB notch at 4 kHz · Notched μ 0.78 — PTA missed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4480560"/>
            <a:ext cx="53492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4572000"/>
            <a:ext cx="4983480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1D7874"/>
                </a:solidFill>
                <a:latin typeface="Calibri"/>
              </a:rPr>
              <a:t>C · PRESBYCUSIS</a:t>
            </a:r>
          </a:p>
          <a:p>
            <a:pPr algn="l">
              <a:spcBef>
                <a:spcPts val="300"/>
              </a:spcBef>
            </a:pPr>
            <a:r>
              <a:rPr sz="1200" b="1" i="0">
                <a:solidFill>
                  <a:srgbClr val="1B2A3A"/>
                </a:solidFill>
                <a:latin typeface="Calibri"/>
              </a:rPr>
              <a:t>PTA 33.8 dB “Mild” · FAI 30.0</a:t>
            </a:r>
          </a:p>
          <a:p>
            <a:pPr algn="l">
              <a:lnSpc>
                <a:spcPct val="110000"/>
              </a:lnSpc>
              <a:spcBef>
                <a:spcPts val="300"/>
              </a:spcBef>
            </a:pPr>
            <a:r>
              <a:rPr sz="1050" b="0" i="0">
                <a:solidFill>
                  <a:srgbClr val="5A6B7B"/>
                </a:solidFill>
                <a:latin typeface="Calibri"/>
              </a:rPr>
              <a:t>Sloping 35 dB — frequency gradient preserved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5532120"/>
            <a:ext cx="53492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5623559"/>
            <a:ext cx="4983480" cy="914399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1D7874"/>
                </a:solidFill>
                <a:latin typeface="Calibri"/>
              </a:rPr>
              <a:t>D · ASYMMETRY</a:t>
            </a:r>
          </a:p>
          <a:p>
            <a:pPr algn="l">
              <a:spcBef>
                <a:spcPts val="300"/>
              </a:spcBef>
            </a:pPr>
            <a:r>
              <a:rPr sz="1200" b="1" i="0">
                <a:solidFill>
                  <a:srgbClr val="1B2A3A"/>
                </a:solidFill>
                <a:latin typeface="Calibri"/>
              </a:rPr>
              <a:t>R 53.8 dB Mod / L 28.8 Mild</a:t>
            </a:r>
          </a:p>
          <a:p>
            <a:pPr algn="l">
              <a:lnSpc>
                <a:spcPct val="110000"/>
              </a:lnSpc>
              <a:spcBef>
                <a:spcPts val="300"/>
              </a:spcBef>
            </a:pPr>
            <a:r>
              <a:rPr sz="1050" b="0" i="0">
                <a:solidFill>
                  <a:srgbClr val="5A6B7B"/>
                </a:solidFill>
                <a:latin typeface="Calibri"/>
              </a:rPr>
              <a:t>Left FAI 42.2 after adjustment — impact quantified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60120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Configuration typing and asymmetry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84048"/>
            <a:ext cx="12801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5A6B7B"/>
                </a:solidFill>
                <a:latin typeface="Calibri"/>
              </a:rPr>
              <a:t>10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5A6B7B"/>
                </a:solidFill>
                <a:latin typeface="Calibri"/>
              </a:rPr>
              <a:t>ArabCIC 2026 · Jeddah · Fuzzy Audiometric Index (FAI)</a:t>
            </a:r>
          </a:p>
        </p:txBody>
      </p:sp>
      <p:pic>
        <p:nvPicPr>
          <p:cNvPr id="6" name="Picture 5" descr="fig_eda_config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4480560" cy="27125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020174"/>
            <a:ext cx="44805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1">
                <a:solidFill>
                  <a:srgbClr val="5A6B7B"/>
                </a:solidFill>
                <a:latin typeface="Calibri"/>
              </a:rPr>
              <a:t>Configuration distribution, adult cohort (slope = 4 kHz − 500 Hz)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1234440"/>
            <a:ext cx="6446520" cy="105156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60" y="1271016"/>
            <a:ext cx="6172200" cy="546811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900" b="1" i="0">
                <a:solidFill>
                  <a:srgbClr val="E8B54A"/>
                </a:solidFill>
                <a:latin typeface="Georgia"/>
              </a:rPr>
              <a:t>Steeply 31.8% · Gently sloping 29.7%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1823313"/>
            <a:ext cx="6172200" cy="420623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dominant adult configurations (4 kHz − 500 Hz)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2441448"/>
            <a:ext cx="6446520" cy="1051560"/>
          </a:xfrm>
          <a:prstGeom prst="roundRect">
            <a:avLst>
              <a:gd name="adj" fmla="val 12000"/>
            </a:avLst>
          </a:prstGeom>
          <a:solidFill>
            <a:srgbClr val="1D7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2478024"/>
            <a:ext cx="6172200" cy="546811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Georgia"/>
              </a:rPr>
              <a:t>Flat 22.0% · Precipitous 13.4% · Rising 3.1%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3030321"/>
            <a:ext cx="6172200" cy="420623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exploratory output; accuracy table not reproducible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3648456"/>
            <a:ext cx="6446520" cy="1051560"/>
          </a:xfrm>
          <a:prstGeom prst="roundRect">
            <a:avLst>
              <a:gd name="adj" fmla="val 12000"/>
            </a:avLst>
          </a:prstGeom>
          <a:solidFill>
            <a:srgbClr val="143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0" y="3685032"/>
            <a:ext cx="6172200" cy="546811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Georgia"/>
              </a:rPr>
              <a:t>6-shape membership vector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4237329"/>
            <a:ext cx="6172200" cy="420623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graded configuration typing per ear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800" y="4855464"/>
            <a:ext cx="6446520" cy="1051560"/>
          </a:xfrm>
          <a:prstGeom prst="roundRect">
            <a:avLst>
              <a:gd name="adj" fmla="val 12000"/>
            </a:avLst>
          </a:prstGeom>
          <a:solidFill>
            <a:srgbClr val="1D7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4892040"/>
            <a:ext cx="6172200" cy="546811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Georgia"/>
              </a:rPr>
              <a:t>6.7% of participants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5444337"/>
            <a:ext cx="6172200" cy="420623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exceed 15 dB inter-aural difference; continuous index feeds severity adjustment (Case 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60120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Longitudinal tracking: sub-threshold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84048"/>
            <a:ext cx="12801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5A6B7B"/>
                </a:solidFill>
                <a:latin typeface="Calibri"/>
              </a:rPr>
              <a:t>11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5A6B7B"/>
                </a:solidFill>
                <a:latin typeface="Calibri"/>
              </a:rPr>
              <a:t>ArabCIC 2026 · Jeddah · Fuzzy Audiometric Index (FAI)</a:t>
            </a:r>
          </a:p>
        </p:txBody>
      </p:sp>
      <p:pic>
        <p:nvPicPr>
          <p:cNvPr id="6" name="Picture 5" descr="fig7_longitud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11201400" cy="36267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888655"/>
            <a:ext cx="11201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050" b="0" i="1">
                <a:solidFill>
                  <a:srgbClr val="5A6B7B"/>
                </a:solidFill>
                <a:latin typeface="Calibri"/>
              </a:rPr>
              <a:t>FAI trajectories (coloured) vs PTA grade (grey steps) over 4–8 years — smooth progression instead of discrete jumps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3611880" cy="114300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111496"/>
            <a:ext cx="3337560" cy="5943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000" b="1" i="0">
                <a:solidFill>
                  <a:srgbClr val="E8B54A"/>
                </a:solidFill>
                <a:latin typeface="Georgia"/>
              </a:rPr>
              <a:t>+1.7 pts/yr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715000"/>
            <a:ext cx="333756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mean annual FAI change, age-related subgroup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5074920"/>
            <a:ext cx="3611880" cy="114300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5111496"/>
            <a:ext cx="3337560" cy="5943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000" b="1" i="0">
                <a:solidFill>
                  <a:srgbClr val="E8B54A"/>
                </a:solidFill>
                <a:latin typeface="Georgia"/>
              </a:rPr>
              <a:t>1 grade / 4.2 yr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2" y="5715000"/>
            <a:ext cx="333756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PTA steps between categories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7304" y="5074920"/>
            <a:ext cx="3611880" cy="114300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5111496"/>
            <a:ext cx="3337560" cy="5943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000" b="1" i="0">
                <a:solidFill>
                  <a:srgbClr val="E8B54A"/>
                </a:solidFill>
                <a:latin typeface="Georgia"/>
              </a:rPr>
              <a:t>28%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5715000"/>
            <a:ext cx="333756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FAI shifts ≥ 5 pts without crossing a PTA boundary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60120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Clinical 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84048"/>
            <a:ext cx="12801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5A6B7B"/>
                </a:solidFill>
                <a:latin typeface="Calibri"/>
              </a:rPr>
              <a:t>12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5A6B7B"/>
                </a:solidFill>
                <a:latin typeface="Calibri"/>
              </a:rPr>
              <a:t>ArabCIC 2026 · Jeddah · Fuzzy Audiometric Index (FAI)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3584448" cy="2240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82296" cy="2240280"/>
          </a:xfrm>
          <a:prstGeom prst="rect">
            <a:avLst/>
          </a:prstGeom>
          <a:solidFill>
            <a:srgbClr val="1D7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99032"/>
            <a:ext cx="3200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0B2545"/>
                </a:solidFill>
                <a:latin typeface="Calibri"/>
              </a:rPr>
              <a:t>Audiologic triage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01368"/>
            <a:ext cx="3200400" cy="1554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A3A"/>
                </a:solidFill>
                <a:latin typeface="Calibri"/>
              </a:rPr>
              <a:t>Flag patients straddling severity boundaries for monitoring instead of forcing one label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234440"/>
            <a:ext cx="3584448" cy="2240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1234440"/>
            <a:ext cx="82296" cy="2240280"/>
          </a:xfrm>
          <a:prstGeom prst="rect">
            <a:avLst/>
          </a:prstGeom>
          <a:solidFill>
            <a:srgbClr val="1D7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399032"/>
            <a:ext cx="3200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0B2545"/>
                </a:solidFill>
                <a:latin typeface="Calibri"/>
              </a:rPr>
              <a:t>Hearing aid fitting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801368"/>
            <a:ext cx="3200400" cy="1554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A3A"/>
                </a:solidFill>
                <a:latin typeface="Calibri"/>
              </a:rPr>
              <a:t>Continuous FAI maps to gain; configuration vector guides frequency-specific amplification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9016" y="1234440"/>
            <a:ext cx="3584448" cy="2240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9016" y="1234440"/>
            <a:ext cx="82296" cy="2240280"/>
          </a:xfrm>
          <a:prstGeom prst="rect">
            <a:avLst/>
          </a:prstGeom>
          <a:solidFill>
            <a:srgbClr val="1D7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7616" y="1399032"/>
            <a:ext cx="3200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0B2545"/>
                </a:solidFill>
                <a:latin typeface="Calibri"/>
              </a:rPr>
              <a:t>Ototoxicity monitoring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6" y="1801368"/>
            <a:ext cx="3200400" cy="1554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A3A"/>
                </a:solidFill>
                <a:latin typeface="Calibri"/>
              </a:rPr>
              <a:t>≥ 5-point FAI shifts (cisplatin, aminoglycosides) before PTA crosses a boundary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03320"/>
            <a:ext cx="3584448" cy="2240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703320"/>
            <a:ext cx="82296" cy="2240280"/>
          </a:xfrm>
          <a:prstGeom prst="rect">
            <a:avLst/>
          </a:prstGeom>
          <a:solidFill>
            <a:srgbClr val="1D7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867911"/>
            <a:ext cx="3200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0B2545"/>
                </a:solidFill>
                <a:latin typeface="Calibri"/>
              </a:rPr>
              <a:t>Noise surveillance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270248"/>
            <a:ext cx="3200400" cy="1554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A3A"/>
                </a:solidFill>
                <a:latin typeface="Calibri"/>
              </a:rPr>
              <a:t>Notch detection flags early noise damage despite a normal PTA (Case B)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5968" y="3703320"/>
            <a:ext cx="3584448" cy="2240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15968" y="3703320"/>
            <a:ext cx="82296" cy="2240280"/>
          </a:xfrm>
          <a:prstGeom prst="rect">
            <a:avLst/>
          </a:prstGeom>
          <a:solidFill>
            <a:srgbClr val="1D7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4568" y="3867911"/>
            <a:ext cx="3200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0B2545"/>
                </a:solidFill>
                <a:latin typeface="Calibri"/>
              </a:rPr>
              <a:t>Low-resource settings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4270248"/>
            <a:ext cx="3200400" cy="1554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A3A"/>
                </a:solidFill>
                <a:latin typeface="Calibri"/>
              </a:rPr>
              <a:t>Runs on mobile audiometry (hearWHO, Mimi); interpretable and computationally light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9016" y="3703320"/>
            <a:ext cx="3584448" cy="2240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29016" y="3703320"/>
            <a:ext cx="82296" cy="2240280"/>
          </a:xfrm>
          <a:prstGeom prst="rect">
            <a:avLst/>
          </a:prstGeom>
          <a:solidFill>
            <a:srgbClr val="1D7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57616" y="3867911"/>
            <a:ext cx="3200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0B2545"/>
                </a:solidFill>
                <a:latin typeface="Calibri"/>
              </a:rPr>
              <a:t>Research endpoints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7616" y="4270248"/>
            <a:ext cx="3200400" cy="1554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A3A"/>
                </a:solidFill>
                <a:latin typeface="Calibri"/>
              </a:rPr>
              <a:t>Continuous outcome for hearing-preservation and rehabilitation trials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60120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Limitations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84048"/>
            <a:ext cx="12801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5A6B7B"/>
                </a:solidFill>
                <a:latin typeface="Calibri"/>
              </a:rPr>
              <a:t>13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5A6B7B"/>
                </a:solidFill>
                <a:latin typeface="Calibri"/>
              </a:rPr>
              <a:t>ArabCIC 2026 · Jeddah · Fuzzy Audiometric Index (FAI)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548640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0B2545"/>
                </a:solidFill>
                <a:latin typeface="Georgia"/>
              </a:rPr>
              <a:t>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5029200" cy="4297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0" i="0">
                <a:solidFill>
                  <a:srgbClr val="1B2A3A"/>
                </a:solidFill>
                <a:latin typeface="Calibri"/>
              </a:rPr>
              <a:t>•  Air-conduction thresholds only — bone conduction needed for mixed-loss detection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0" i="0">
                <a:solidFill>
                  <a:srgbClr val="1B2A3A"/>
                </a:solidFill>
                <a:latin typeface="Calibri"/>
              </a:rPr>
              <a:t>•  Rule base expert-derived, not yet through formal Delphi consensus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0" i="0">
                <a:solidFill>
                  <a:srgbClr val="1B2A3A"/>
                </a:solidFill>
                <a:latin typeface="Calibri"/>
              </a:rPr>
              <a:t>•  NHANES skews toward mild–moderate age-related loss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0" i="0">
                <a:solidFill>
                  <a:srgbClr val="1B2A3A"/>
                </a:solidFill>
                <a:latin typeface="Calibri"/>
              </a:rPr>
              <a:t>•  No extended high-frequency audiometry (10–16 kHz)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0" i="0">
                <a:solidFill>
                  <a:srgbClr val="1B2A3A"/>
                </a:solidFill>
                <a:latin typeface="Calibri"/>
              </a:rPr>
              <a:t>•  Reference standard (WHO PTA-4) carries the same boundary issue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1B2A3A"/>
                </a:solidFill>
                <a:latin typeface="Calibri"/>
              </a:rPr>
              <a:t>•  Outcome validation pending (hearing aids, CI candidacy)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188720"/>
            <a:ext cx="548640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71600"/>
            <a:ext cx="5029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1D7874"/>
                </a:solidFill>
                <a:latin typeface="Georgia"/>
              </a:rPr>
              <a:t>Next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783080"/>
            <a:ext cx="5029200" cy="4297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0" i="0">
                <a:solidFill>
                  <a:srgbClr val="1B2A3A"/>
                </a:solidFill>
                <a:latin typeface="Calibri"/>
              </a:rPr>
              <a:t>•  Multi-site validation — paediatric and Menière’s cohorts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0" i="0">
                <a:solidFill>
                  <a:srgbClr val="1B2A3A"/>
                </a:solidFill>
                <a:latin typeface="Calibri"/>
              </a:rPr>
              <a:t>•  Mobile audiometry integration for community screening in low-resource settings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0" i="0">
                <a:solidFill>
                  <a:srgbClr val="1B2A3A"/>
                </a:solidFill>
                <a:latin typeface="Calibri"/>
              </a:rPr>
              <a:t>•  Web-based FAI calculator with REST API for EHR integration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0" i="0">
                <a:solidFill>
                  <a:srgbClr val="1B2A3A"/>
                </a:solidFill>
                <a:latin typeface="Calibri"/>
              </a:rPr>
              <a:t>•  Neuro-fuzzy learning (ANFIS) — learn rule parameters from data while staying interpretable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1B2A3A"/>
                </a:solidFill>
                <a:latin typeface="Calibri"/>
              </a:rPr>
              <a:t>•  FAI as a continuous feature for ML outcome models (speech-in-noise, hearing aid outcomes, CI candidacy)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939131" y="6542532"/>
            <a:ext cx="91440" cy="11430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9443" y="6428232"/>
            <a:ext cx="91440" cy="22860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59755" y="6268212"/>
            <a:ext cx="91440" cy="38862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70067" y="6131052"/>
            <a:ext cx="91440" cy="52578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80379" y="5971032"/>
            <a:ext cx="91440" cy="68580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90691" y="5856732"/>
            <a:ext cx="91440" cy="80010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01003" y="5971032"/>
            <a:ext cx="91440" cy="68580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11315" y="6131052"/>
            <a:ext cx="91440" cy="52578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21627" y="6268212"/>
            <a:ext cx="91440" cy="38862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31939" y="6428232"/>
            <a:ext cx="91440" cy="22860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2251" y="6542532"/>
            <a:ext cx="91440" cy="11430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777240"/>
            <a:ext cx="10725912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400" b="1" i="0">
                <a:solidFill>
                  <a:srgbClr val="E8B54A"/>
                </a:solidFill>
                <a:latin typeface="Calibri"/>
              </a:rPr>
              <a:t>TAKE-HOME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" y="1600200"/>
            <a:ext cx="9811512" cy="1051560"/>
          </a:xfrm>
          <a:prstGeom prst="roundRect">
            <a:avLst>
              <a:gd name="adj" fmla="val 10000"/>
            </a:avLst>
          </a:prstGeom>
          <a:solidFill>
            <a:srgbClr val="143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3040" y="1600200"/>
            <a:ext cx="914400" cy="10515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800" b="1" i="0">
                <a:solidFill>
                  <a:srgbClr val="E8B54A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1600200"/>
            <a:ext cx="8412480" cy="10515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 i="0">
                <a:solidFill>
                  <a:srgbClr val="FFFFFF"/>
                </a:solidFill>
                <a:latin typeface="Calibri"/>
              </a:rPr>
              <a:t>A continuous, frequency-resolved Fuzzy Audiometric Index preserves the gradation that crisp PTA thresholds discard.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8720" y="2807208"/>
            <a:ext cx="9811512" cy="1051560"/>
          </a:xfrm>
          <a:prstGeom prst="roundRect">
            <a:avLst>
              <a:gd name="adj" fmla="val 10000"/>
            </a:avLst>
          </a:prstGeom>
          <a:solidFill>
            <a:srgbClr val="143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2807208"/>
            <a:ext cx="914400" cy="10515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800" b="1" i="0">
                <a:solidFill>
                  <a:srgbClr val="E8B54A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2807208"/>
            <a:ext cx="8412480" cy="10515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 i="0">
                <a:solidFill>
                  <a:srgbClr val="FFFFFF"/>
                </a:solidFill>
                <a:latin typeface="Calibri"/>
              </a:rPr>
              <a:t>κ = 0.69 against WHO PTA-4; 94.2% agreement in clear cases, with deliberate graded reclassification in the borderline zone (56.3%).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20" y="4014216"/>
            <a:ext cx="9811512" cy="1051560"/>
          </a:xfrm>
          <a:prstGeom prst="roundRect">
            <a:avLst>
              <a:gd name="adj" fmla="val 10000"/>
            </a:avLst>
          </a:prstGeom>
          <a:solidFill>
            <a:srgbClr val="143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63040" y="4014216"/>
            <a:ext cx="914400" cy="10515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800" b="1" i="0">
                <a:solidFill>
                  <a:srgbClr val="E8B54A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4014216"/>
            <a:ext cx="8412480" cy="10515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 i="0">
                <a:solidFill>
                  <a:srgbClr val="FFFFFF"/>
                </a:solidFill>
                <a:latin typeface="Calibri"/>
              </a:rPr>
              <a:t>Interpretable by design — a rule base clinicians can inspect, question and modify.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440680"/>
            <a:ext cx="9811512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0" i="1">
                <a:solidFill>
                  <a:srgbClr val="E8B54A"/>
                </a:solidFill>
                <a:latin typeface="Calibri"/>
              </a:rPr>
              <a:t>“As audiology moves toward personalised, data-driven care, fuzzy logic keeps the continuity of auditory function front and centre.”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939131" y="6531102"/>
            <a:ext cx="91440" cy="12573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9443" y="6405372"/>
            <a:ext cx="91440" cy="25146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59755" y="6229350"/>
            <a:ext cx="91440" cy="427482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70067" y="6078474"/>
            <a:ext cx="91440" cy="578358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80379" y="5902452"/>
            <a:ext cx="91440" cy="75438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90691" y="5776722"/>
            <a:ext cx="91440" cy="88011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01003" y="5902452"/>
            <a:ext cx="91440" cy="75438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11315" y="6078474"/>
            <a:ext cx="91440" cy="578358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21627" y="6229350"/>
            <a:ext cx="91440" cy="427482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31939" y="6405372"/>
            <a:ext cx="91440" cy="25146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2251" y="6531102"/>
            <a:ext cx="91440" cy="12573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39131" y="6588252"/>
            <a:ext cx="91440" cy="68580"/>
          </a:xfrm>
          <a:prstGeom prst="rect">
            <a:avLst/>
          </a:prstGeom>
          <a:solidFill>
            <a:srgbClr val="1D7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49443" y="6519672"/>
            <a:ext cx="91440" cy="137160"/>
          </a:xfrm>
          <a:prstGeom prst="rect">
            <a:avLst/>
          </a:prstGeom>
          <a:solidFill>
            <a:srgbClr val="1D7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59755" y="6423660"/>
            <a:ext cx="91440" cy="233172"/>
          </a:xfrm>
          <a:prstGeom prst="rect">
            <a:avLst/>
          </a:prstGeom>
          <a:solidFill>
            <a:srgbClr val="1D7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70067" y="6341364"/>
            <a:ext cx="91440" cy="315468"/>
          </a:xfrm>
          <a:prstGeom prst="rect">
            <a:avLst/>
          </a:prstGeom>
          <a:solidFill>
            <a:srgbClr val="1D7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80379" y="6245352"/>
            <a:ext cx="91440" cy="411479"/>
          </a:xfrm>
          <a:prstGeom prst="rect">
            <a:avLst/>
          </a:prstGeom>
          <a:solidFill>
            <a:srgbClr val="1D7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90691" y="6176772"/>
            <a:ext cx="91440" cy="480060"/>
          </a:xfrm>
          <a:prstGeom prst="rect">
            <a:avLst/>
          </a:prstGeom>
          <a:solidFill>
            <a:srgbClr val="1D7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01003" y="6245352"/>
            <a:ext cx="91440" cy="411479"/>
          </a:xfrm>
          <a:prstGeom prst="rect">
            <a:avLst/>
          </a:prstGeom>
          <a:solidFill>
            <a:srgbClr val="1D7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11315" y="6341364"/>
            <a:ext cx="91440" cy="315468"/>
          </a:xfrm>
          <a:prstGeom prst="rect">
            <a:avLst/>
          </a:prstGeom>
          <a:solidFill>
            <a:srgbClr val="1D7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21627" y="6423660"/>
            <a:ext cx="91440" cy="233172"/>
          </a:xfrm>
          <a:prstGeom prst="rect">
            <a:avLst/>
          </a:prstGeom>
          <a:solidFill>
            <a:srgbClr val="1D7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31939" y="6519672"/>
            <a:ext cx="91440" cy="137160"/>
          </a:xfrm>
          <a:prstGeom prst="rect">
            <a:avLst/>
          </a:prstGeom>
          <a:solidFill>
            <a:srgbClr val="1D7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42251" y="6588252"/>
            <a:ext cx="91440" cy="68580"/>
          </a:xfrm>
          <a:prstGeom prst="rect">
            <a:avLst/>
          </a:prstGeom>
          <a:solidFill>
            <a:srgbClr val="1D7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1737360"/>
            <a:ext cx="10725912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Georgia"/>
              </a:rPr>
              <a:t>Thank you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2697480"/>
            <a:ext cx="10725912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800" b="0" i="0">
                <a:solidFill>
                  <a:srgbClr val="BFD0E0"/>
                </a:solidFill>
                <a:latin typeface="Calibri"/>
              </a:rPr>
              <a:t>Questions and discussion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794760"/>
            <a:ext cx="10725912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Dr. Sanyaolu Ameye (MBBS, FWACS, FMCORL, Pg Cert ML/AI, MSc Data Science)</a:t>
            </a:r>
          </a:p>
          <a:p>
            <a:pPr algn="ctr">
              <a:spcAft>
                <a:spcPts val="300"/>
              </a:spcAft>
            </a:pPr>
            <a:r>
              <a:rPr sz="1300" b="0" i="0">
                <a:solidFill>
                  <a:srgbClr val="BFD0E0"/>
                </a:solidFill>
                <a:latin typeface="Calibri"/>
              </a:rPr>
              <a:t>ENT Surgeon and Data Scientist</a:t>
            </a:r>
          </a:p>
          <a:p>
            <a:pPr algn="ctr"/>
            <a:r>
              <a:rPr sz="1300" b="0" i="0">
                <a:solidFill>
                  <a:srgbClr val="BFD0E0"/>
                </a:solidFill>
                <a:latin typeface="Calibri"/>
              </a:rPr>
              <a:t>King Fahad Specialist Hospital, Tabuk, Kingdom of Saudi Arabia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800600"/>
            <a:ext cx="10725912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500" b="1" i="0">
                <a:solidFill>
                  <a:srgbClr val="E8B54A"/>
                </a:solidFill>
                <a:latin typeface="Calibri"/>
              </a:rPr>
              <a:t>sanyaameye@hotmail.com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349240"/>
            <a:ext cx="10725912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i="0">
                <a:solidFill>
                  <a:srgbClr val="9AB0C6"/>
                </a:solidFill>
                <a:latin typeface="Calibri"/>
              </a:rPr>
              <a:t>Code and data: github.com/ameye/fuzzy-audiogram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